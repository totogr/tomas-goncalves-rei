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  <p:embeddedFont>
      <p:font typeface="Lobster"/>
      <p:regular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CF6F7B-B682-43F8-839F-B1F04C7D810F}">
  <a:tblStyle styleId="{05CF6F7B-B682-43F8-839F-B1F04C7D81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obster-regular.fntdata"/><Relationship Id="rId20" Type="http://schemas.openxmlformats.org/officeDocument/2006/relationships/slide" Target="slides/slide14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6.xml"/><Relationship Id="rId44" Type="http://schemas.openxmlformats.org/officeDocument/2006/relationships/font" Target="fonts/Lato-boldItalic.fntdata"/><Relationship Id="rId21" Type="http://schemas.openxmlformats.org/officeDocument/2006/relationships/slide" Target="slides/slide15.xml"/><Relationship Id="rId43" Type="http://schemas.openxmlformats.org/officeDocument/2006/relationships/font" Target="fonts/Lato-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bold.fntdata"/><Relationship Id="rId23" Type="http://schemas.openxmlformats.org/officeDocument/2006/relationships/slide" Target="slides/slide17.xml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19.xml"/><Relationship Id="rId47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aleway-bold.fntdata"/><Relationship Id="rId14" Type="http://schemas.openxmlformats.org/officeDocument/2006/relationships/slide" Target="slides/slide8.xml"/><Relationship Id="rId36" Type="http://schemas.openxmlformats.org/officeDocument/2006/relationships/font" Target="fonts/Raleway-regular.fntdata"/><Relationship Id="rId17" Type="http://schemas.openxmlformats.org/officeDocument/2006/relationships/slide" Target="slides/slide11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0.xml"/><Relationship Id="rId38" Type="http://schemas.openxmlformats.org/officeDocument/2006/relationships/font" Target="fonts/Raleway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587fce05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587fce05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587fce053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3587fce053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587fce05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587fce05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587fce05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587fce05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3587fce05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3587fce05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587fce053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3587fce053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f5c81b7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f5c81b7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f5c81b76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f5c81b76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3f5c81b76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3f5c81b76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f5c81b76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3f5c81b76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3f5c81b766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3f5c81b766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f5c81b76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3f5c81b76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f5c81b76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3f5c81b76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f5c81b76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3f5c81b76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3f5c81b766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3f5c81b766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3f5c81b76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3f5c81b76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3f5c81b76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3f5c81b76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3f5c81b766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3f5c81b76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f5c81b766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f5c81b76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3f5c81b766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3f5c81b766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3f5c81b766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3f5c81b766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3f5c81b766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3f5c81b766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587fce053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587fce053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3587fce053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3587fce05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587fce053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587fce053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3587fce053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3587fce053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3587fce053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3587fce053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3587fce053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3587fce053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27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Multidimensional Scaling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PCoA: Principal Coordinate </a:t>
            </a:r>
            <a:r>
              <a:rPr lang="en"/>
              <a:t>Analysis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2" y="423827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350" y="1293650"/>
            <a:ext cx="8351311" cy="29848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437450" y="3083275"/>
            <a:ext cx="3598200" cy="10653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97275" y="4656675"/>
            <a:ext cx="66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Classical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MDS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exactamente igual 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PCoA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(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Principal Coordinate Analysis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0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lang="en" sz="26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Idea:</a:t>
            </a:r>
            <a:r>
              <a:rPr lang="en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Preservar las distancias entre puntos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3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lang="en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Ubicar los puntos en una dimensión menor tal que las distancias se parezcan lo más posible:</a:t>
            </a:r>
            <a:endParaRPr sz="1100"/>
          </a:p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26576" l="51057" r="2393" t="61820"/>
          <a:stretch/>
        </p:blipFill>
        <p:spPr>
          <a:xfrm>
            <a:off x="1988638" y="4113575"/>
            <a:ext cx="5166720" cy="72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67000" y="1325700"/>
            <a:ext cx="3817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Retomando el ejemplo de PCA</a:t>
            </a:r>
            <a:endParaRPr b="0" sz="1800"/>
          </a:p>
        </p:txBody>
      </p:sp>
      <p:graphicFrame>
        <p:nvGraphicFramePr>
          <p:cNvPr id="108" name="Google Shape;108;p16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" name="Google Shape;109;p16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0" name="Google Shape;110;p16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11" name="Google Shape;111;p16"/>
          <p:cNvSpPr/>
          <p:nvPr/>
        </p:nvSpPr>
        <p:spPr>
          <a:xfrm>
            <a:off x="5557000" y="31617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5192700" y="28271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004088" y="28921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988025" y="28272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7201600" y="26335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597175" y="30858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267375" y="446935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PC1 (91%)</a:t>
            </a:r>
            <a:endParaRPr/>
          </a:p>
        </p:txBody>
      </p:sp>
      <p:cxnSp>
        <p:nvCxnSpPr>
          <p:cNvPr id="118" name="Google Shape;118;p16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19" name="Google Shape;119;p16"/>
          <p:cNvSpPr txBox="1"/>
          <p:nvPr/>
        </p:nvSpPr>
        <p:spPr>
          <a:xfrm>
            <a:off x="4862725" y="179080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PC2 (4%)</a:t>
            </a:r>
            <a:endParaRPr/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17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17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199925" y="162985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 Calculamos la distancia entre el A1 y A2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199925" y="1260125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hacer MDS (o PCoA):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917225" y="2130775"/>
            <a:ext cx="479700" cy="2758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1495775" y="2130775"/>
            <a:ext cx="534000" cy="2758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199800" y="203005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Calculamos la distancia entre el A1 y A3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128625" y="2130775"/>
            <a:ext cx="534000" cy="2758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199925" y="243025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Calculamos la distancia entre el A1 y A4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831350" y="2130775"/>
            <a:ext cx="534000" cy="2758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1522925" y="2130775"/>
            <a:ext cx="479700" cy="2758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199925" y="283045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Calculamos la distancia entre el A2 y A3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199925" y="3370925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etc…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8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18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" name="Google Shape;144;p18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268600" y="1199450"/>
            <a:ext cx="40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distancia calculada puede ser cualquiera, por ejemplo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euclidiana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en ese caso la distancia entre A1 y A2 es: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4430900" y="2208400"/>
            <a:ext cx="4233300" cy="400200"/>
            <a:chOff x="4430900" y="2208400"/>
            <a:chExt cx="4233300" cy="400200"/>
          </a:xfrm>
        </p:grpSpPr>
        <p:sp>
          <p:nvSpPr>
            <p:cNvPr id="148" name="Google Shape;148;p18"/>
            <p:cNvSpPr txBox="1"/>
            <p:nvPr/>
          </p:nvSpPr>
          <p:spPr>
            <a:xfrm>
              <a:off x="4430900" y="220840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A2 = √(9-10)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(6-4)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(12-9)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(5-7)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>
              <a:off x="5390450" y="2286000"/>
              <a:ext cx="2504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0" name="Google Shape;150;p18"/>
          <p:cNvSpPr txBox="1"/>
          <p:nvPr/>
        </p:nvSpPr>
        <p:spPr>
          <a:xfrm>
            <a:off x="4430900" y="2610550"/>
            <a:ext cx="42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A1 - A2 = 4,24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19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4.24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4.24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" name="Google Shape;156;p19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crea una matriz de distancias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4452050" y="1127125"/>
            <a:ext cx="40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Ahora tengo que encontrar una nueva matriz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con la misma cantidad de columnas (es decir ejemplos) pero menos filas, 2 (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según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las dimensiones que quiera visualizar).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59" name="Google Shape;159;p19"/>
          <p:cNvGraphicFramePr/>
          <p:nvPr/>
        </p:nvGraphicFramePr>
        <p:xfrm>
          <a:off x="4534250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" name="Google Shape;160;p19"/>
          <p:cNvSpPr txBox="1"/>
          <p:nvPr/>
        </p:nvSpPr>
        <p:spPr>
          <a:xfrm>
            <a:off x="4536725" y="3725325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esta nueva Matriz voy a calcular las distancias. Generando una segunda matriz de distancias, que deberá ser lo más parecida a esta: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1" name="Google Shape;161;p19"/>
          <p:cNvCxnSpPr>
            <a:stCxn id="160" idx="1"/>
          </p:cNvCxnSpPr>
          <p:nvPr/>
        </p:nvCxnSpPr>
        <p:spPr>
          <a:xfrm rot="10800000">
            <a:off x="4177025" y="4092375"/>
            <a:ext cx="359700" cy="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20"/>
          <p:cNvGraphicFramePr/>
          <p:nvPr/>
        </p:nvGraphicFramePr>
        <p:xfrm>
          <a:off x="4434450" y="1544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A1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4.24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5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3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4.24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6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3.4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A3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5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6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5.6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A4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3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3.4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5.6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graphicFrame>
        <p:nvGraphicFramePr>
          <p:cNvPr id="168" name="Google Shape;168;p20"/>
          <p:cNvGraphicFramePr/>
          <p:nvPr/>
        </p:nvGraphicFramePr>
        <p:xfrm>
          <a:off x="210650" y="1544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1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3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1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3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pSp>
        <p:nvGrpSpPr>
          <p:cNvPr id="169" name="Google Shape;169;p20"/>
          <p:cNvGrpSpPr/>
          <p:nvPr/>
        </p:nvGrpSpPr>
        <p:grpSpPr>
          <a:xfrm>
            <a:off x="216751" y="3204900"/>
            <a:ext cx="2544637" cy="400200"/>
            <a:chOff x="4526150" y="2054250"/>
            <a:chExt cx="4233300" cy="400200"/>
          </a:xfrm>
        </p:grpSpPr>
        <p:sp>
          <p:nvSpPr>
            <p:cNvPr id="170" name="Google Shape;170;p20"/>
            <p:cNvSpPr txBox="1"/>
            <p:nvPr/>
          </p:nvSpPr>
          <p:spPr>
            <a:xfrm>
              <a:off x="4526150" y="205425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A2 = √(</a:t>
              </a:r>
              <a:r>
                <a:rPr lang="en"/>
                <a:t>x</a:t>
              </a:r>
              <a:r>
                <a:rPr baseline="-25000" lang="en"/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/>
                <a:t>x</a:t>
              </a:r>
              <a:r>
                <a:rPr baseline="-25000" lang="en"/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</a:t>
              </a:r>
              <a:r>
                <a:rPr lang="en"/>
                <a:t>y</a:t>
              </a:r>
              <a:r>
                <a:rPr baseline="-25000" lang="en"/>
                <a:t>1 </a:t>
              </a:r>
              <a:r>
                <a:rPr lang="en"/>
                <a:t>-</a:t>
              </a:r>
              <a:r>
                <a:rPr baseline="-25000" lang="en"/>
                <a:t> </a:t>
              </a:r>
              <a:r>
                <a:rPr lang="en"/>
                <a:t>y</a:t>
              </a:r>
              <a:r>
                <a:rPr baseline="-25000" lang="en"/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endParaRPr/>
            </a:p>
          </p:txBody>
        </p:sp>
        <p:cxnSp>
          <p:nvCxnSpPr>
            <p:cNvPr id="171" name="Google Shape;171;p20"/>
            <p:cNvCxnSpPr/>
            <p:nvPr/>
          </p:nvCxnSpPr>
          <p:spPr>
            <a:xfrm flipH="1" rot="10800000">
              <a:off x="6112406" y="2135975"/>
              <a:ext cx="21801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2" name="Google Shape;172;p20"/>
          <p:cNvSpPr txBox="1"/>
          <p:nvPr/>
        </p:nvSpPr>
        <p:spPr>
          <a:xfrm>
            <a:off x="2626050" y="3220350"/>
            <a:ext cx="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⩬ </a:t>
            </a:r>
            <a:r>
              <a:rPr lang="en" sz="1200"/>
              <a:t>4.24</a:t>
            </a:r>
            <a:endParaRPr/>
          </a:p>
        </p:txBody>
      </p:sp>
      <p:grpSp>
        <p:nvGrpSpPr>
          <p:cNvPr id="173" name="Google Shape;173;p20"/>
          <p:cNvGrpSpPr/>
          <p:nvPr/>
        </p:nvGrpSpPr>
        <p:grpSpPr>
          <a:xfrm>
            <a:off x="216751" y="3810350"/>
            <a:ext cx="2544637" cy="400200"/>
            <a:chOff x="4526150" y="2054250"/>
            <a:chExt cx="4233300" cy="400200"/>
          </a:xfrm>
        </p:grpSpPr>
        <p:sp>
          <p:nvSpPr>
            <p:cNvPr id="174" name="Google Shape;174;p20"/>
            <p:cNvSpPr txBox="1"/>
            <p:nvPr/>
          </p:nvSpPr>
          <p:spPr>
            <a:xfrm>
              <a:off x="4526150" y="205425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A3 = √(</a:t>
              </a:r>
              <a:r>
                <a:rPr lang="en"/>
                <a:t>x</a:t>
              </a:r>
              <a:r>
                <a:rPr baseline="-25000" lang="en"/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/>
                <a:t>x</a:t>
              </a:r>
              <a:r>
                <a:rPr baseline="-25000" lang="en"/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</a:t>
              </a:r>
              <a:r>
                <a:rPr lang="en"/>
                <a:t>y</a:t>
              </a:r>
              <a:r>
                <a:rPr baseline="-25000" lang="en"/>
                <a:t>1 </a:t>
              </a:r>
              <a:r>
                <a:rPr lang="en"/>
                <a:t>-</a:t>
              </a:r>
              <a:r>
                <a:rPr baseline="-25000" lang="en"/>
                <a:t> </a:t>
              </a:r>
              <a:r>
                <a:rPr lang="en"/>
                <a:t>y</a:t>
              </a:r>
              <a:r>
                <a:rPr baseline="-25000" lang="en"/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endParaRPr/>
            </a:p>
          </p:txBody>
        </p:sp>
        <p:cxnSp>
          <p:nvCxnSpPr>
            <p:cNvPr id="175" name="Google Shape;175;p20"/>
            <p:cNvCxnSpPr/>
            <p:nvPr/>
          </p:nvCxnSpPr>
          <p:spPr>
            <a:xfrm flipH="1" rot="10800000">
              <a:off x="6112406" y="2135975"/>
              <a:ext cx="21801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20"/>
          <p:cNvSpPr txBox="1"/>
          <p:nvPr/>
        </p:nvSpPr>
        <p:spPr>
          <a:xfrm>
            <a:off x="2626050" y="3825800"/>
            <a:ext cx="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⩬ 5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338675" y="4360325"/>
            <a:ext cx="30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¡Queremos preservar las distancias!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29675" y="422627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Tenemos que llegar a esta matriz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graphicFrame>
        <p:nvGraphicFramePr>
          <p:cNvPr id="184" name="Google Shape;184;p21"/>
          <p:cNvGraphicFramePr/>
          <p:nvPr/>
        </p:nvGraphicFramePr>
        <p:xfrm>
          <a:off x="273200" y="1749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1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3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1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3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pSp>
        <p:nvGrpSpPr>
          <p:cNvPr id="185" name="Google Shape;185;p21"/>
          <p:cNvGrpSpPr/>
          <p:nvPr/>
        </p:nvGrpSpPr>
        <p:grpSpPr>
          <a:xfrm>
            <a:off x="216751" y="3204900"/>
            <a:ext cx="2544637" cy="400200"/>
            <a:chOff x="4526150" y="2054250"/>
            <a:chExt cx="4233300" cy="400200"/>
          </a:xfrm>
        </p:grpSpPr>
        <p:sp>
          <p:nvSpPr>
            <p:cNvPr id="186" name="Google Shape;186;p21"/>
            <p:cNvSpPr txBox="1"/>
            <p:nvPr/>
          </p:nvSpPr>
          <p:spPr>
            <a:xfrm>
              <a:off x="4526150" y="205425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A2 = √(</a:t>
              </a:r>
              <a:r>
                <a:rPr lang="en"/>
                <a:t>x</a:t>
              </a:r>
              <a:r>
                <a:rPr baseline="-25000" lang="en"/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/>
                <a:t>x</a:t>
              </a:r>
              <a:r>
                <a:rPr baseline="-25000" lang="en"/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</a:t>
              </a:r>
              <a:r>
                <a:rPr lang="en"/>
                <a:t>y</a:t>
              </a:r>
              <a:r>
                <a:rPr baseline="-25000" lang="en"/>
                <a:t>1 </a:t>
              </a:r>
              <a:r>
                <a:rPr lang="en"/>
                <a:t>-</a:t>
              </a:r>
              <a:r>
                <a:rPr baseline="-25000" lang="en"/>
                <a:t> </a:t>
              </a:r>
              <a:r>
                <a:rPr lang="en"/>
                <a:t>y</a:t>
              </a:r>
              <a:r>
                <a:rPr baseline="-25000" lang="en"/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flipH="1" rot="10800000">
              <a:off x="6112406" y="2135975"/>
              <a:ext cx="21801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8" name="Google Shape;188;p21"/>
          <p:cNvSpPr txBox="1"/>
          <p:nvPr/>
        </p:nvSpPr>
        <p:spPr>
          <a:xfrm>
            <a:off x="2626050" y="3220350"/>
            <a:ext cx="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⩬ 4.24</a:t>
            </a:r>
            <a:endParaRPr/>
          </a:p>
        </p:txBody>
      </p:sp>
      <p:grpSp>
        <p:nvGrpSpPr>
          <p:cNvPr id="189" name="Google Shape;189;p21"/>
          <p:cNvGrpSpPr/>
          <p:nvPr/>
        </p:nvGrpSpPr>
        <p:grpSpPr>
          <a:xfrm>
            <a:off x="216751" y="3810350"/>
            <a:ext cx="2544637" cy="400200"/>
            <a:chOff x="4526150" y="2054250"/>
            <a:chExt cx="4233300" cy="400200"/>
          </a:xfrm>
        </p:grpSpPr>
        <p:sp>
          <p:nvSpPr>
            <p:cNvPr id="190" name="Google Shape;190;p21"/>
            <p:cNvSpPr txBox="1"/>
            <p:nvPr/>
          </p:nvSpPr>
          <p:spPr>
            <a:xfrm>
              <a:off x="4526150" y="205425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A3 = √(</a:t>
              </a:r>
              <a:r>
                <a:rPr lang="en"/>
                <a:t>x</a:t>
              </a:r>
              <a:r>
                <a:rPr baseline="-25000" lang="en"/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/>
                <a:t>x</a:t>
              </a:r>
              <a:r>
                <a:rPr baseline="-25000" lang="en"/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</a:t>
              </a:r>
              <a:r>
                <a:rPr lang="en"/>
                <a:t>y</a:t>
              </a:r>
              <a:r>
                <a:rPr baseline="-25000" lang="en"/>
                <a:t>1 </a:t>
              </a:r>
              <a:r>
                <a:rPr lang="en"/>
                <a:t>-</a:t>
              </a:r>
              <a:r>
                <a:rPr baseline="-25000" lang="en"/>
                <a:t> </a:t>
              </a:r>
              <a:r>
                <a:rPr lang="en"/>
                <a:t>y</a:t>
              </a:r>
              <a:r>
                <a:rPr baseline="-25000" lang="en"/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endParaRPr/>
            </a:p>
          </p:txBody>
        </p:sp>
        <p:cxnSp>
          <p:nvCxnSpPr>
            <p:cNvPr id="191" name="Google Shape;191;p21"/>
            <p:cNvCxnSpPr/>
            <p:nvPr/>
          </p:nvCxnSpPr>
          <p:spPr>
            <a:xfrm flipH="1" rot="10800000">
              <a:off x="6112406" y="2135975"/>
              <a:ext cx="21801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2" name="Google Shape;192;p21"/>
          <p:cNvSpPr txBox="1"/>
          <p:nvPr/>
        </p:nvSpPr>
        <p:spPr>
          <a:xfrm>
            <a:off x="2626050" y="3825800"/>
            <a:ext cx="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⩬ 5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338675" y="4360325"/>
            <a:ext cx="30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¡Queremos preservar las distancias!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727650" y="135467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¿Cómo resolvemos este problema?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5" name="Google Shape;195;p21"/>
          <p:cNvGrpSpPr/>
          <p:nvPr/>
        </p:nvGrpSpPr>
        <p:grpSpPr>
          <a:xfrm>
            <a:off x="4444938" y="1895400"/>
            <a:ext cx="1841444" cy="400200"/>
            <a:chOff x="4445000" y="1895400"/>
            <a:chExt cx="4064100" cy="400200"/>
          </a:xfrm>
        </p:grpSpPr>
        <p:sp>
          <p:nvSpPr>
            <p:cNvPr id="196" name="Google Shape;196;p21"/>
            <p:cNvSpPr txBox="1"/>
            <p:nvPr/>
          </p:nvSpPr>
          <p:spPr>
            <a:xfrm>
              <a:off x="4445000" y="1895400"/>
              <a:ext cx="4064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= (x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 y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,) = </a:t>
              </a:r>
              <a:r>
                <a:rPr lang="en">
                  <a:latin typeface="Lobster"/>
                  <a:ea typeface="Lobster"/>
                  <a:cs typeface="Lobster"/>
                  <a:sym typeface="Lobster"/>
                </a:rPr>
                <a:t>𝓧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1</a:t>
              </a:r>
              <a:endParaRPr baseline="-25000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7200152" y="2003775"/>
              <a:ext cx="155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8" name="Google Shape;198;p21"/>
          <p:cNvSpPr txBox="1"/>
          <p:nvPr/>
        </p:nvSpPr>
        <p:spPr>
          <a:xfrm>
            <a:off x="4445000" y="1538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Llamemos:</a:t>
            </a:r>
            <a:endParaRPr/>
          </a:p>
        </p:txBody>
      </p:sp>
      <p:grpSp>
        <p:nvGrpSpPr>
          <p:cNvPr id="199" name="Google Shape;199;p21"/>
          <p:cNvGrpSpPr/>
          <p:nvPr/>
        </p:nvGrpSpPr>
        <p:grpSpPr>
          <a:xfrm>
            <a:off x="4444951" y="2276363"/>
            <a:ext cx="1841400" cy="400200"/>
            <a:chOff x="4444951" y="2276363"/>
            <a:chExt cx="1841400" cy="400200"/>
          </a:xfrm>
        </p:grpSpPr>
        <p:sp>
          <p:nvSpPr>
            <p:cNvPr id="200" name="Google Shape;200;p21"/>
            <p:cNvSpPr txBox="1"/>
            <p:nvPr/>
          </p:nvSpPr>
          <p:spPr>
            <a:xfrm>
              <a:off x="4444951" y="2276363"/>
              <a:ext cx="184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A2 = (x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 y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,) = </a:t>
              </a:r>
              <a:r>
                <a:rPr lang="en">
                  <a:latin typeface="Lobster"/>
                  <a:ea typeface="Lobster"/>
                  <a:cs typeface="Lobster"/>
                  <a:sym typeface="Lobster"/>
                </a:rPr>
                <a:t>𝓧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endParaRPr baseline="-25000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01" name="Google Shape;201;p21"/>
            <p:cNvCxnSpPr/>
            <p:nvPr/>
          </p:nvCxnSpPr>
          <p:spPr>
            <a:xfrm>
              <a:off x="5683398" y="2339625"/>
              <a:ext cx="7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2" name="Google Shape;202;p21"/>
          <p:cNvGrpSpPr/>
          <p:nvPr/>
        </p:nvGrpSpPr>
        <p:grpSpPr>
          <a:xfrm>
            <a:off x="4444951" y="2676563"/>
            <a:ext cx="1841400" cy="400200"/>
            <a:chOff x="4444951" y="2676563"/>
            <a:chExt cx="1841400" cy="400200"/>
          </a:xfrm>
        </p:grpSpPr>
        <p:sp>
          <p:nvSpPr>
            <p:cNvPr id="203" name="Google Shape;203;p21"/>
            <p:cNvSpPr txBox="1"/>
            <p:nvPr/>
          </p:nvSpPr>
          <p:spPr>
            <a:xfrm>
              <a:off x="4444951" y="2676563"/>
              <a:ext cx="184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A3 = (x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 y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,) = </a:t>
              </a:r>
              <a:r>
                <a:rPr lang="en">
                  <a:latin typeface="Lobster"/>
                  <a:ea typeface="Lobster"/>
                  <a:cs typeface="Lobster"/>
                  <a:sym typeface="Lobster"/>
                </a:rPr>
                <a:t>𝓧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3</a:t>
              </a:r>
              <a:endParaRPr baseline="-25000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>
              <a:off x="5683398" y="2760150"/>
              <a:ext cx="7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5" name="Google Shape;205;p21"/>
          <p:cNvSpPr txBox="1"/>
          <p:nvPr/>
        </p:nvSpPr>
        <p:spPr>
          <a:xfrm>
            <a:off x="4445000" y="306083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0369"/>
            <a:ext cx="9144003" cy="3071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687225" y="1127125"/>
            <a:ext cx="80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Definimos en base a lo anterior una nueva función llamada: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Stress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131225" y="3146775"/>
            <a:ext cx="1178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Nuestro objetivo ahora será minimizar esta función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017900" y="2977425"/>
            <a:ext cx="1440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Son cada uno de los vectores, que representan a A1, A2, etc. en el nuevo espacio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552725" y="2822225"/>
            <a:ext cx="165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es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original calculada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7344675" y="2822225"/>
            <a:ext cx="172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      es la nueva distancia que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deberíamos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encontrar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002275" y="4085175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esto es 0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la misma en ambos espacios. Por ello debemos minimizar este valor, de hecho la suma de todas estas restas.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729450" y="2078875"/>
            <a:ext cx="79272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Para encontrar los valores que minimicen la función de </a:t>
            </a:r>
            <a:r>
              <a:rPr b="1" i="1" lang="en" sz="1405"/>
              <a:t>Stress</a:t>
            </a:r>
            <a:r>
              <a:rPr lang="en" sz="1405"/>
              <a:t> hay varios </a:t>
            </a:r>
            <a:r>
              <a:rPr lang="en" sz="1405"/>
              <a:t>algoritmos</a:t>
            </a:r>
            <a:r>
              <a:rPr lang="en" sz="1405"/>
              <a:t> </a:t>
            </a:r>
            <a:r>
              <a:rPr lang="en" sz="1405"/>
              <a:t>matemáticos</a:t>
            </a:r>
            <a:r>
              <a:rPr lang="en" sz="1405"/>
              <a:t>, como:</a:t>
            </a:r>
            <a:endParaRPr sz="1405"/>
          </a:p>
          <a:p>
            <a:pPr indent="-317818" lvl="0" marL="457200" rtl="0" algn="l">
              <a:spcBef>
                <a:spcPts val="1200"/>
              </a:spcBef>
              <a:spcAft>
                <a:spcPts val="0"/>
              </a:spcAft>
              <a:buSzPts val="1405"/>
              <a:buChar char="●"/>
            </a:pPr>
            <a:r>
              <a:rPr lang="en" sz="1405"/>
              <a:t>Método de descenso empinado de </a:t>
            </a:r>
            <a:r>
              <a:rPr b="1" lang="en" sz="1405"/>
              <a:t>Kruskal</a:t>
            </a:r>
            <a:r>
              <a:rPr lang="en" sz="1405"/>
              <a:t>  (</a:t>
            </a:r>
            <a:r>
              <a:rPr i="1" lang="en" sz="1405"/>
              <a:t>Kruskal’s steepest descent method</a:t>
            </a:r>
            <a:r>
              <a:rPr lang="en" sz="1405"/>
              <a:t>): </a:t>
            </a:r>
            <a:r>
              <a:rPr lang="en" sz="1405" u="sng"/>
              <a:t>un método de descenso por gradiente</a:t>
            </a:r>
            <a:endParaRPr sz="1405" u="sng"/>
          </a:p>
          <a:p>
            <a:pPr indent="-317818" lvl="0" marL="457200" rtl="0" algn="l"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" sz="1405"/>
              <a:t>Método iterativo de mayorización de </a:t>
            </a:r>
            <a:r>
              <a:rPr b="1" lang="en" sz="1405"/>
              <a:t>De Leeuw</a:t>
            </a:r>
            <a:r>
              <a:rPr lang="en" sz="1405"/>
              <a:t> (</a:t>
            </a:r>
            <a:r>
              <a:rPr i="1" lang="en" sz="1405"/>
              <a:t>De Leeuw’s iterative majorization method</a:t>
            </a:r>
            <a:r>
              <a:rPr lang="en" sz="1405"/>
              <a:t>), </a:t>
            </a:r>
            <a:r>
              <a:rPr lang="en" sz="1405"/>
              <a:t>también</a:t>
            </a:r>
            <a:r>
              <a:rPr lang="en" sz="1405"/>
              <a:t> llamado </a:t>
            </a:r>
            <a:r>
              <a:rPr b="1" lang="en" sz="1405"/>
              <a:t>SMACOF</a:t>
            </a:r>
            <a:endParaRPr b="1" sz="1405"/>
          </a:p>
        </p:txBody>
      </p:sp>
      <p:sp>
        <p:nvSpPr>
          <p:cNvPr id="224" name="Google Shape;224;p23"/>
          <p:cNvSpPr txBox="1"/>
          <p:nvPr/>
        </p:nvSpPr>
        <p:spPr>
          <a:xfrm>
            <a:off x="1767450" y="4034300"/>
            <a:ext cx="560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 cosa importante a tener en cuenta es que estos métodos son enfoques iterativos, que a veces dan resultados diferentes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escenso por gradiente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729450" y="1883825"/>
            <a:ext cx="7927200" cy="9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5"/>
              <a:t>La </a:t>
            </a:r>
            <a:r>
              <a:rPr lang="en" sz="1405"/>
              <a:t>técnica</a:t>
            </a:r>
            <a:r>
              <a:rPr lang="en" sz="1405"/>
              <a:t> de </a:t>
            </a:r>
            <a:r>
              <a:rPr b="1" lang="en" sz="1405"/>
              <a:t>descenso por gradiente</a:t>
            </a:r>
            <a:r>
              <a:rPr lang="en" sz="1405"/>
              <a:t> es una </a:t>
            </a:r>
            <a:r>
              <a:rPr lang="en" sz="1405"/>
              <a:t>técnica</a:t>
            </a:r>
            <a:r>
              <a:rPr lang="en" sz="1405"/>
              <a:t> </a:t>
            </a:r>
            <a:r>
              <a:rPr lang="en" sz="1405"/>
              <a:t>genérica</a:t>
            </a:r>
            <a:r>
              <a:rPr lang="en" sz="1405"/>
              <a:t>, utilizada en muchos algoritmos, la podemos usar en regresión </a:t>
            </a:r>
            <a:r>
              <a:rPr lang="en" sz="1405"/>
              <a:t>lineal</a:t>
            </a:r>
            <a:r>
              <a:rPr lang="en" sz="1405"/>
              <a:t> para ajustar la mejor recta, en PCA y por supuesto es una parte fundamental del algoritmo </a:t>
            </a:r>
            <a:r>
              <a:rPr b="1" i="1" lang="en" sz="1405"/>
              <a:t>backpropagation</a:t>
            </a:r>
            <a:r>
              <a:rPr lang="en" sz="1405"/>
              <a:t> utilizado para el entrenamiento de redes neurales </a:t>
            </a:r>
            <a:endParaRPr sz="1405"/>
          </a:p>
        </p:txBody>
      </p:sp>
      <p:pic>
        <p:nvPicPr>
          <p:cNvPr id="236" name="Google Shape;2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7775" y="2794025"/>
            <a:ext cx="2272125" cy="23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818450" y="2949225"/>
            <a:ext cx="50094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 trata de encontrar el </a:t>
            </a: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mínimo</a:t>
            </a: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la función de error, utilizando para ello el gradiente como </a:t>
            </a: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brújula</a:t>
            </a: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Ya que el gradiente apunta siempre en la dirección de máximo crecimiento, ir en la dirección opuesta nos acercará al mínimo.</a:t>
            </a:r>
            <a:endParaRPr sz="1405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50" y="1350050"/>
            <a:ext cx="3209902" cy="9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3344350" y="14252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Veamos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podemos minimizar esta función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5" name="Google Shape;245;p26"/>
          <p:cNvGraphicFramePr/>
          <p:nvPr/>
        </p:nvGraphicFramePr>
        <p:xfrm>
          <a:off x="212050" y="234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10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8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4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5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6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2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26"/>
          <p:cNvSpPr txBox="1"/>
          <p:nvPr/>
        </p:nvSpPr>
        <p:spPr>
          <a:xfrm>
            <a:off x="3464675" y="1924550"/>
            <a:ext cx="455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Elijamos valores aleatorios para el nuevo espacio MDS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134450" y="3818675"/>
            <a:ext cx="406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NOTA</a:t>
            </a: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: asumimos solo 4 observaciones: A1.. A4, por </a:t>
            </a: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simplicidad</a:t>
            </a: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48" name="Google Shape;248;p26"/>
          <p:cNvGrpSpPr/>
          <p:nvPr/>
        </p:nvGrpSpPr>
        <p:grpSpPr>
          <a:xfrm>
            <a:off x="63875" y="4318000"/>
            <a:ext cx="8466300" cy="431100"/>
            <a:chOff x="63875" y="4318000"/>
            <a:chExt cx="8466300" cy="431100"/>
          </a:xfrm>
        </p:grpSpPr>
        <p:sp>
          <p:nvSpPr>
            <p:cNvPr id="249" name="Google Shape;249;p26"/>
            <p:cNvSpPr txBox="1"/>
            <p:nvPr/>
          </p:nvSpPr>
          <p:spPr>
            <a:xfrm>
              <a:off x="63875" y="431800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|| A1-A2 || )</a:t>
              </a:r>
              <a:r>
                <a:rPr baseline="30000" lang="en" sz="1200"/>
                <a:t>2</a:t>
              </a:r>
              <a:r>
                <a:rPr lang="en" sz="1200"/>
                <a:t> + (5 - || A1-A3 || )</a:t>
              </a:r>
              <a:r>
                <a:rPr baseline="30000" lang="en" sz="1200"/>
                <a:t>2</a:t>
              </a:r>
              <a:r>
                <a:rPr lang="en" sz="1200"/>
                <a:t> + (3 - || A1-A4 || )</a:t>
              </a:r>
              <a:r>
                <a:rPr baseline="30000" lang="en" sz="1200"/>
                <a:t>2</a:t>
              </a:r>
              <a:r>
                <a:rPr lang="en" sz="1200"/>
                <a:t> + (6 - || A2-A3 || )</a:t>
              </a:r>
              <a:r>
                <a:rPr baseline="30000" lang="en" sz="1200"/>
                <a:t>2</a:t>
              </a:r>
              <a:r>
                <a:rPr lang="en" sz="1200"/>
                <a:t> + (3.4 - || A2-A4 || )</a:t>
              </a:r>
              <a:r>
                <a:rPr baseline="30000" lang="en" sz="1200"/>
                <a:t>2</a:t>
              </a:r>
              <a:r>
                <a:rPr lang="en" sz="1200"/>
                <a:t> + (5.6 - || A3-A4 ||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250" name="Google Shape;250;p26"/>
            <p:cNvCxnSpPr/>
            <p:nvPr/>
          </p:nvCxnSpPr>
          <p:spPr>
            <a:xfrm>
              <a:off x="275175" y="4423850"/>
              <a:ext cx="7930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1" name="Google Shape;251;p26"/>
          <p:cNvGrpSpPr/>
          <p:nvPr/>
        </p:nvGrpSpPr>
        <p:grpSpPr>
          <a:xfrm>
            <a:off x="564450" y="2571750"/>
            <a:ext cx="7648400" cy="1901475"/>
            <a:chOff x="564450" y="2571750"/>
            <a:chExt cx="7648400" cy="1901475"/>
          </a:xfrm>
        </p:grpSpPr>
        <p:cxnSp>
          <p:nvCxnSpPr>
            <p:cNvPr id="252" name="Google Shape;252;p26"/>
            <p:cNvCxnSpPr/>
            <p:nvPr/>
          </p:nvCxnSpPr>
          <p:spPr>
            <a:xfrm flipH="1" rot="10800000">
              <a:off x="564450" y="2928050"/>
              <a:ext cx="3591300" cy="1524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3" name="Google Shape;253;p26"/>
            <p:cNvCxnSpPr/>
            <p:nvPr/>
          </p:nvCxnSpPr>
          <p:spPr>
            <a:xfrm flipH="1" rot="10800000">
              <a:off x="1961450" y="2970525"/>
              <a:ext cx="2187300" cy="150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4" name="Google Shape;254;p26"/>
            <p:cNvCxnSpPr/>
            <p:nvPr/>
          </p:nvCxnSpPr>
          <p:spPr>
            <a:xfrm flipH="1" rot="10800000">
              <a:off x="3118550" y="3026750"/>
              <a:ext cx="1037100" cy="142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4219325" y="3048100"/>
              <a:ext cx="77700" cy="1269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6" name="Google Shape;256;p26"/>
            <p:cNvCxnSpPr/>
            <p:nvPr/>
          </p:nvCxnSpPr>
          <p:spPr>
            <a:xfrm rot="10800000">
              <a:off x="4353150" y="3061975"/>
              <a:ext cx="1368900" cy="135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7" name="Google Shape;257;p26"/>
            <p:cNvCxnSpPr/>
            <p:nvPr/>
          </p:nvCxnSpPr>
          <p:spPr>
            <a:xfrm rot="10800000">
              <a:off x="4508600" y="3097550"/>
              <a:ext cx="2603400" cy="134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8" name="Google Shape;258;p26"/>
            <p:cNvSpPr txBox="1"/>
            <p:nvPr/>
          </p:nvSpPr>
          <p:spPr>
            <a:xfrm>
              <a:off x="4148750" y="2571750"/>
              <a:ext cx="4064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Las distancias son las calculadas en la matriz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59" name="Google Shape;259;p26"/>
          <p:cNvSpPr txBox="1"/>
          <p:nvPr/>
        </p:nvSpPr>
        <p:spPr>
          <a:xfrm>
            <a:off x="8269100" y="43334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0" name="Google Shape;260;p26"/>
          <p:cNvGrpSpPr/>
          <p:nvPr/>
        </p:nvGrpSpPr>
        <p:grpSpPr>
          <a:xfrm>
            <a:off x="6258275" y="2929375"/>
            <a:ext cx="2660025" cy="1932000"/>
            <a:chOff x="6258275" y="2929375"/>
            <a:chExt cx="2660025" cy="1932000"/>
          </a:xfrm>
        </p:grpSpPr>
        <p:sp>
          <p:nvSpPr>
            <p:cNvPr id="261" name="Google Shape;261;p26"/>
            <p:cNvSpPr/>
            <p:nvPr/>
          </p:nvSpPr>
          <p:spPr>
            <a:xfrm>
              <a:off x="8064500" y="4226275"/>
              <a:ext cx="853800" cy="6351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2" name="Google Shape;262;p26"/>
            <p:cNvCxnSpPr>
              <a:stCxn id="261" idx="1"/>
            </p:cNvCxnSpPr>
            <p:nvPr/>
          </p:nvCxnSpPr>
          <p:spPr>
            <a:xfrm rot="10800000">
              <a:off x="7782136" y="3760683"/>
              <a:ext cx="407400" cy="558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63" name="Google Shape;263;p26"/>
            <p:cNvSpPr txBox="1"/>
            <p:nvPr/>
          </p:nvSpPr>
          <p:spPr>
            <a:xfrm>
              <a:off x="6258275" y="2929375"/>
              <a:ext cx="2610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Idealmente debería dar cero. Eso quiere decir que las distancias son iguales</a:t>
              </a:r>
              <a:endPara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graphicFrame>
        <p:nvGraphicFramePr>
          <p:cNvPr id="269" name="Google Shape;269;p27"/>
          <p:cNvGraphicFramePr/>
          <p:nvPr/>
        </p:nvGraphicFramePr>
        <p:xfrm>
          <a:off x="120325" y="166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10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8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4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5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6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2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70" name="Google Shape;270;p27"/>
          <p:cNvGrpSpPr/>
          <p:nvPr/>
        </p:nvGrpSpPr>
        <p:grpSpPr>
          <a:xfrm>
            <a:off x="599825" y="1235900"/>
            <a:ext cx="8466300" cy="431100"/>
            <a:chOff x="204700" y="4318000"/>
            <a:chExt cx="8466300" cy="431100"/>
          </a:xfrm>
        </p:grpSpPr>
        <p:sp>
          <p:nvSpPr>
            <p:cNvPr id="271" name="Google Shape;271;p27"/>
            <p:cNvSpPr txBox="1"/>
            <p:nvPr/>
          </p:nvSpPr>
          <p:spPr>
            <a:xfrm>
              <a:off x="204700" y="431800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|| A1-A2 || )</a:t>
              </a:r>
              <a:r>
                <a:rPr baseline="30000" lang="en" sz="1200"/>
                <a:t>2</a:t>
              </a:r>
              <a:r>
                <a:rPr lang="en" sz="1200"/>
                <a:t> + (5 - || A1-A3 || )</a:t>
              </a:r>
              <a:r>
                <a:rPr baseline="30000" lang="en" sz="1200"/>
                <a:t>2</a:t>
              </a:r>
              <a:r>
                <a:rPr lang="en" sz="1200"/>
                <a:t> + (3 - || A1-A4 || )</a:t>
              </a:r>
              <a:r>
                <a:rPr baseline="30000" lang="en" sz="1200"/>
                <a:t>2</a:t>
              </a:r>
              <a:r>
                <a:rPr lang="en" sz="1200"/>
                <a:t> + (6 - || A2-A3 || )</a:t>
              </a:r>
              <a:r>
                <a:rPr baseline="30000" lang="en" sz="1200"/>
                <a:t>2</a:t>
              </a:r>
              <a:r>
                <a:rPr lang="en" sz="1200"/>
                <a:t> + (3.4 - || A2-A4 || )</a:t>
              </a:r>
              <a:r>
                <a:rPr baseline="30000" lang="en" sz="1200"/>
                <a:t>2</a:t>
              </a:r>
              <a:r>
                <a:rPr lang="en" sz="1200"/>
                <a:t> + (5.6 - || A3-A4 ||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272" name="Google Shape;272;p27"/>
            <p:cNvCxnSpPr/>
            <p:nvPr/>
          </p:nvCxnSpPr>
          <p:spPr>
            <a:xfrm>
              <a:off x="416000" y="4423850"/>
              <a:ext cx="7930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3" name="Google Shape;273;p27"/>
          <p:cNvSpPr txBox="1"/>
          <p:nvPr/>
        </p:nvSpPr>
        <p:spPr>
          <a:xfrm>
            <a:off x="3760625" y="1775775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A1 - A2 || = √ ((10-8)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4,47 </a:t>
            </a:r>
            <a:endParaRPr b="1" sz="1200"/>
          </a:p>
        </p:txBody>
      </p:sp>
      <p:sp>
        <p:nvSpPr>
          <p:cNvPr id="274" name="Google Shape;274;p27"/>
          <p:cNvSpPr txBox="1"/>
          <p:nvPr/>
        </p:nvSpPr>
        <p:spPr>
          <a:xfrm>
            <a:off x="3760625" y="21450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A3 || = √ ((10-4)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(5-6)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6,08</a:t>
            </a:r>
            <a:endParaRPr b="1" sz="1200"/>
          </a:p>
        </p:txBody>
      </p:sp>
      <p:sp>
        <p:nvSpPr>
          <p:cNvPr id="275" name="Google Shape;275;p27"/>
          <p:cNvSpPr txBox="1"/>
          <p:nvPr/>
        </p:nvSpPr>
        <p:spPr>
          <a:xfrm>
            <a:off x="3760625" y="25143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A4 || = √ ((10-9)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3,16</a:t>
            </a:r>
            <a:endParaRPr b="1" sz="1200"/>
          </a:p>
        </p:txBody>
      </p:sp>
      <p:sp>
        <p:nvSpPr>
          <p:cNvPr id="276" name="Google Shape;276;p27"/>
          <p:cNvSpPr txBox="1"/>
          <p:nvPr/>
        </p:nvSpPr>
        <p:spPr>
          <a:xfrm>
            <a:off x="3793100" y="28836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A2 - A3 || = √ ((8-4)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(9-6)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5</a:t>
            </a:r>
            <a:endParaRPr b="1" sz="1200"/>
          </a:p>
        </p:txBody>
      </p:sp>
      <p:sp>
        <p:nvSpPr>
          <p:cNvPr id="277" name="Google Shape;277;p27"/>
          <p:cNvSpPr txBox="1"/>
          <p:nvPr/>
        </p:nvSpPr>
        <p:spPr>
          <a:xfrm>
            <a:off x="3793100" y="32529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A2 - A4 || = √ ((8-9)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(9-2)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7.1</a:t>
            </a:r>
            <a:endParaRPr b="1" sz="1200"/>
          </a:p>
        </p:txBody>
      </p:sp>
      <p:sp>
        <p:nvSpPr>
          <p:cNvPr id="278" name="Google Shape;278;p27"/>
          <p:cNvSpPr txBox="1"/>
          <p:nvPr/>
        </p:nvSpPr>
        <p:spPr>
          <a:xfrm>
            <a:off x="3793100" y="36222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A3 - A4 || = √ ((4-9)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(6-2)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6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.4</a:t>
            </a:r>
            <a:endParaRPr b="1" sz="1200"/>
          </a:p>
        </p:txBody>
      </p:sp>
      <p:grpSp>
        <p:nvGrpSpPr>
          <p:cNvPr id="279" name="Google Shape;279;p27"/>
          <p:cNvGrpSpPr/>
          <p:nvPr/>
        </p:nvGrpSpPr>
        <p:grpSpPr>
          <a:xfrm>
            <a:off x="120319" y="4062350"/>
            <a:ext cx="5601304" cy="431100"/>
            <a:chOff x="120325" y="4062350"/>
            <a:chExt cx="8466300" cy="431100"/>
          </a:xfrm>
        </p:grpSpPr>
        <p:sp>
          <p:nvSpPr>
            <p:cNvPr id="280" name="Google Shape;280;p27"/>
            <p:cNvSpPr txBox="1"/>
            <p:nvPr/>
          </p:nvSpPr>
          <p:spPr>
            <a:xfrm>
              <a:off x="120325" y="406235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</a:t>
              </a:r>
              <a:r>
                <a:rPr lang="en" sz="1200">
                  <a:solidFill>
                    <a:schemeClr val="accent3"/>
                  </a:solidFill>
                </a:rPr>
                <a:t>4.47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(5 - </a:t>
              </a:r>
              <a:r>
                <a:rPr lang="en" sz="1200">
                  <a:solidFill>
                    <a:schemeClr val="accent3"/>
                  </a:solidFill>
                </a:rPr>
                <a:t>6.08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(3 - </a:t>
              </a:r>
              <a:r>
                <a:rPr lang="en" sz="1200">
                  <a:solidFill>
                    <a:schemeClr val="accent3"/>
                  </a:solidFill>
                </a:rPr>
                <a:t>3.16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(6 - </a:t>
              </a:r>
              <a:r>
                <a:rPr lang="en" sz="1200">
                  <a:solidFill>
                    <a:schemeClr val="accent3"/>
                  </a:solidFill>
                </a:rPr>
                <a:t>5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(3.4 - </a:t>
              </a:r>
              <a:r>
                <a:rPr lang="en" sz="1200">
                  <a:solidFill>
                    <a:schemeClr val="accent3"/>
                  </a:solidFill>
                </a:rPr>
                <a:t>7.1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(5.6 -</a:t>
              </a:r>
              <a:r>
                <a:rPr lang="en" sz="1200">
                  <a:solidFill>
                    <a:schemeClr val="accent3"/>
                  </a:solidFill>
                </a:rPr>
                <a:t> 6.4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281" name="Google Shape;281;p27"/>
            <p:cNvCxnSpPr/>
            <p:nvPr/>
          </p:nvCxnSpPr>
          <p:spPr>
            <a:xfrm flipH="1" rot="10800000">
              <a:off x="461023" y="4141625"/>
              <a:ext cx="8008800" cy="2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27"/>
          <p:cNvSpPr txBox="1"/>
          <p:nvPr/>
        </p:nvSpPr>
        <p:spPr>
          <a:xfrm>
            <a:off x="5651500" y="4077800"/>
            <a:ext cx="73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</a:t>
            </a: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4,05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83" name="Google Shape;283;p27"/>
          <p:cNvGrpSpPr/>
          <p:nvPr/>
        </p:nvGrpSpPr>
        <p:grpSpPr>
          <a:xfrm>
            <a:off x="5595175" y="2302188"/>
            <a:ext cx="3548825" cy="2270875"/>
            <a:chOff x="5609175" y="2300100"/>
            <a:chExt cx="3548825" cy="2270875"/>
          </a:xfrm>
        </p:grpSpPr>
        <p:sp>
          <p:nvSpPr>
            <p:cNvPr id="284" name="Google Shape;284;p27"/>
            <p:cNvSpPr/>
            <p:nvPr/>
          </p:nvSpPr>
          <p:spPr>
            <a:xfrm>
              <a:off x="5609175" y="4035775"/>
              <a:ext cx="776100" cy="5352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7"/>
            <p:cNvSpPr txBox="1"/>
            <p:nvPr/>
          </p:nvSpPr>
          <p:spPr>
            <a:xfrm>
              <a:off x="6601100" y="2300100"/>
              <a:ext cx="2556900" cy="14775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Queríamos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0 y obtuvimos 4.05. Eso quiere decir que nuestro error es: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Error = 0 - 4.05 =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- 4.05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|Error| = | 0 - 4.05| =  4.05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86" name="Google Shape;286;p27"/>
            <p:cNvCxnSpPr>
              <a:endCxn id="285" idx="2"/>
            </p:cNvCxnSpPr>
            <p:nvPr/>
          </p:nvCxnSpPr>
          <p:spPr>
            <a:xfrm flipH="1" rot="10800000">
              <a:off x="6385250" y="3777600"/>
              <a:ext cx="1494300" cy="52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dot"/>
              <a:round/>
              <a:headEnd len="med" w="med" type="none"/>
              <a:tailEnd len="med" w="med" type="triangle"/>
            </a:ln>
          </p:spPr>
        </p:cxnSp>
      </p:grpSp>
      <p:sp>
        <p:nvSpPr>
          <p:cNvPr id="287" name="Google Shape;287;p27"/>
          <p:cNvSpPr txBox="1"/>
          <p:nvPr/>
        </p:nvSpPr>
        <p:spPr>
          <a:xfrm>
            <a:off x="0" y="1251350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Stress=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169325" y="2008625"/>
            <a:ext cx="747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Err(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,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, …….,A4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,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b="1" lang="en" sz="1200"/>
              <a:t>)</a:t>
            </a:r>
            <a:r>
              <a:rPr lang="en" sz="1200"/>
              <a:t> =   </a:t>
            </a:r>
            <a:r>
              <a:rPr b="1" lang="en" sz="1200">
                <a:solidFill>
                  <a:srgbClr val="38761D"/>
                </a:solidFill>
              </a:rPr>
              <a:t> </a:t>
            </a:r>
            <a:r>
              <a:rPr lang="en" sz="1500"/>
              <a:t>√(</a:t>
            </a:r>
            <a:r>
              <a:rPr lang="en" sz="1200"/>
              <a:t> (</a:t>
            </a:r>
            <a:r>
              <a:rPr b="1" lang="en" sz="1200"/>
              <a:t>4.24</a:t>
            </a:r>
            <a:r>
              <a:rPr lang="en" sz="1200"/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 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  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+</a:t>
            </a:r>
            <a:endParaRPr b="1" sz="1200"/>
          </a:p>
        </p:txBody>
      </p:sp>
      <p:sp>
        <p:nvSpPr>
          <p:cNvPr id="294" name="Google Shape;294;p28"/>
          <p:cNvSpPr txBox="1"/>
          <p:nvPr/>
        </p:nvSpPr>
        <p:spPr>
          <a:xfrm>
            <a:off x="3187450" y="2387075"/>
            <a:ext cx="38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</a:t>
            </a:r>
            <a:endParaRPr b="1" sz="1200"/>
          </a:p>
        </p:txBody>
      </p:sp>
      <p:sp>
        <p:nvSpPr>
          <p:cNvPr id="295" name="Google Shape;295;p28"/>
          <p:cNvSpPr txBox="1"/>
          <p:nvPr/>
        </p:nvSpPr>
        <p:spPr>
          <a:xfrm>
            <a:off x="3187450" y="2756375"/>
            <a:ext cx="369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 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</a:t>
            </a:r>
            <a:endParaRPr b="1" sz="1200"/>
          </a:p>
        </p:txBody>
      </p:sp>
      <p:sp>
        <p:nvSpPr>
          <p:cNvPr id="296" name="Google Shape;296;p28"/>
          <p:cNvSpPr txBox="1"/>
          <p:nvPr/>
        </p:nvSpPr>
        <p:spPr>
          <a:xfrm>
            <a:off x="3219925" y="3125675"/>
            <a:ext cx="40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6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</a:t>
            </a:r>
            <a:endParaRPr b="1" sz="1200"/>
          </a:p>
        </p:txBody>
      </p:sp>
      <p:sp>
        <p:nvSpPr>
          <p:cNvPr id="297" name="Google Shape;297;p28"/>
          <p:cNvSpPr txBox="1"/>
          <p:nvPr/>
        </p:nvSpPr>
        <p:spPr>
          <a:xfrm>
            <a:off x="3219925" y="3494975"/>
            <a:ext cx="366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3.4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</a:t>
            </a:r>
            <a:endParaRPr b="1" sz="1200"/>
          </a:p>
        </p:txBody>
      </p:sp>
      <p:sp>
        <p:nvSpPr>
          <p:cNvPr id="298" name="Google Shape;298;p28"/>
          <p:cNvSpPr txBox="1"/>
          <p:nvPr/>
        </p:nvSpPr>
        <p:spPr>
          <a:xfrm>
            <a:off x="3219925" y="3864275"/>
            <a:ext cx="373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 5.6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(A3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 sz="1500"/>
              <a:t>)</a:t>
            </a:r>
            <a:endParaRPr b="1" baseline="30000" sz="1200">
              <a:solidFill>
                <a:srgbClr val="38761D"/>
              </a:solidFill>
            </a:endParaRPr>
          </a:p>
        </p:txBody>
      </p:sp>
      <p:sp>
        <p:nvSpPr>
          <p:cNvPr id="299" name="Google Shape;299;p28"/>
          <p:cNvSpPr txBox="1"/>
          <p:nvPr/>
        </p:nvSpPr>
        <p:spPr>
          <a:xfrm>
            <a:off x="211675" y="1326450"/>
            <a:ext cx="88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Calculemos la función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Error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paramétrica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En función de cada variable independiente. Y  llamemos a cada una de las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A1.. A4, como sub MDS1 y sub MDS2, por ejemplo A1 =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, 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00" name="Google Shape;300;p28"/>
          <p:cNvGrpSpPr/>
          <p:nvPr/>
        </p:nvGrpSpPr>
        <p:grpSpPr>
          <a:xfrm>
            <a:off x="134075" y="4339175"/>
            <a:ext cx="7507200" cy="615600"/>
            <a:chOff x="134075" y="4339175"/>
            <a:chExt cx="7507200" cy="615600"/>
          </a:xfrm>
        </p:grpSpPr>
        <p:sp>
          <p:nvSpPr>
            <p:cNvPr id="301" name="Google Shape;301;p28"/>
            <p:cNvSpPr txBox="1"/>
            <p:nvPr/>
          </p:nvSpPr>
          <p:spPr>
            <a:xfrm>
              <a:off x="134075" y="4339175"/>
              <a:ext cx="7507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𝛁 Err </a:t>
              </a: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=  (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 </a:t>
              </a:r>
              <a:r>
                <a:rPr lang="en">
                  <a:solidFill>
                    <a:schemeClr val="dk2"/>
                  </a:solidFill>
                </a:rPr>
                <a:t>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)</a:t>
              </a:r>
              <a:endParaRPr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             ∂</a:t>
              </a:r>
              <a:r>
                <a:rPr lang="en" sz="1200">
                  <a:solidFill>
                    <a:schemeClr val="dk2"/>
                  </a:solidFill>
                </a:rPr>
                <a:t>A1</a:t>
              </a:r>
              <a:r>
                <a:rPr baseline="-25000" lang="en" sz="1200">
                  <a:solidFill>
                    <a:schemeClr val="dk2"/>
                  </a:solidFill>
                </a:rPr>
                <a:t>MDS1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A1</a:t>
              </a:r>
              <a:r>
                <a:rPr baseline="-25000" lang="en" sz="1200">
                  <a:solidFill>
                    <a:schemeClr val="dk2"/>
                  </a:solidFill>
                </a:rPr>
                <a:t>MDS2 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A2</a:t>
              </a:r>
              <a:r>
                <a:rPr baseline="-25000" lang="en" sz="1200">
                  <a:solidFill>
                    <a:schemeClr val="dk2"/>
                  </a:solidFill>
                </a:rPr>
                <a:t>MDS1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A2</a:t>
              </a:r>
              <a:r>
                <a:rPr baseline="-25000" lang="en" sz="1200">
                  <a:solidFill>
                    <a:schemeClr val="dk2"/>
                  </a:solidFill>
                </a:rPr>
                <a:t>MDS2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A3</a:t>
              </a:r>
              <a:r>
                <a:rPr baseline="-25000" lang="en" sz="1200">
                  <a:solidFill>
                    <a:schemeClr val="dk2"/>
                  </a:solidFill>
                </a:rPr>
                <a:t>MDS1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A3</a:t>
              </a:r>
              <a:r>
                <a:rPr baseline="-25000" lang="en" sz="1200">
                  <a:solidFill>
                    <a:schemeClr val="dk2"/>
                  </a:solidFill>
                </a:rPr>
                <a:t>MDS2 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A4</a:t>
              </a:r>
              <a:r>
                <a:rPr baseline="-25000" lang="en" sz="1200">
                  <a:solidFill>
                    <a:schemeClr val="dk2"/>
                  </a:solidFill>
                </a:rPr>
                <a:t>MDS1  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A4</a:t>
              </a:r>
              <a:r>
                <a:rPr baseline="-25000" lang="en" sz="1200">
                  <a:solidFill>
                    <a:schemeClr val="dk2"/>
                  </a:solidFill>
                </a:rPr>
                <a:t>MDS2</a:t>
              </a:r>
              <a:endParaRPr baseline="-25000"/>
            </a:p>
          </p:txBody>
        </p:sp>
        <p:cxnSp>
          <p:nvCxnSpPr>
            <p:cNvPr id="302" name="Google Shape;302;p28"/>
            <p:cNvCxnSpPr/>
            <p:nvPr/>
          </p:nvCxnSpPr>
          <p:spPr>
            <a:xfrm>
              <a:off x="261075" y="4409725"/>
              <a:ext cx="169200" cy="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03" name="Google Shape;303;p28"/>
          <p:cNvSpPr txBox="1"/>
          <p:nvPr/>
        </p:nvSpPr>
        <p:spPr>
          <a:xfrm>
            <a:off x="225775" y="2525900"/>
            <a:ext cx="2787000" cy="1046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Necesitamos calcular el gradiente de la función de error para ver hacia donde crece este y “avanzar” en dirección opuesta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211675" y="1262950"/>
            <a:ext cx="870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Hagamos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cálculo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solo para A1 y su primer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componente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y veamos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nos ayuda a mejorar el resultado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211675" y="1603400"/>
            <a:ext cx="75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Todos los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términos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donde no aparece A1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 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los reemplazamos por sus valores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numéricos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11" name="Google Shape;311;p29"/>
          <p:cNvGrpSpPr/>
          <p:nvPr/>
        </p:nvGrpSpPr>
        <p:grpSpPr>
          <a:xfrm>
            <a:off x="211675" y="2053000"/>
            <a:ext cx="8325500" cy="815700"/>
            <a:chOff x="211675" y="2053000"/>
            <a:chExt cx="8325500" cy="815700"/>
          </a:xfrm>
        </p:grpSpPr>
        <p:grpSp>
          <p:nvGrpSpPr>
            <p:cNvPr id="312" name="Google Shape;312;p29"/>
            <p:cNvGrpSpPr/>
            <p:nvPr/>
          </p:nvGrpSpPr>
          <p:grpSpPr>
            <a:xfrm>
              <a:off x="211675" y="2053000"/>
              <a:ext cx="8325500" cy="815700"/>
              <a:chOff x="211675" y="2053000"/>
              <a:chExt cx="8325500" cy="815700"/>
            </a:xfrm>
          </p:grpSpPr>
          <p:sp>
            <p:nvSpPr>
              <p:cNvPr id="313" name="Google Shape;313;p29"/>
              <p:cNvSpPr txBox="1"/>
              <p:nvPr/>
            </p:nvSpPr>
            <p:spPr>
              <a:xfrm>
                <a:off x="1065375" y="2053000"/>
                <a:ext cx="7471800" cy="81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  </a:t>
                </a:r>
                <a:r>
                  <a:rPr lang="en" sz="1200">
                    <a:solidFill>
                      <a:schemeClr val="accent3"/>
                    </a:solidFill>
                  </a:rPr>
                  <a:t>	 </a:t>
                </a:r>
                <a:r>
                  <a:rPr lang="en" sz="1500"/>
                  <a:t>√(</a:t>
                </a:r>
                <a:r>
                  <a:rPr lang="en" sz="1200"/>
                  <a:t> (</a:t>
                </a:r>
                <a:r>
                  <a:rPr b="1" lang="en" sz="1200"/>
                  <a:t>4.24</a:t>
                </a:r>
                <a:r>
                  <a:rPr lang="en" sz="1200"/>
                  <a:t> - 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√ (A1</a:t>
                </a:r>
                <a:r>
                  <a:rPr baseline="-25000" lang="en" sz="1200">
                    <a:latin typeface="Lato"/>
                    <a:ea typeface="Lato"/>
                    <a:cs typeface="Lato"/>
                    <a:sym typeface="Lato"/>
                  </a:rPr>
                  <a:t>MDS1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- 8)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+ 16     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   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+ (</a:t>
                </a:r>
                <a:r>
                  <a:rPr b="1" lang="en" sz="1200">
                    <a:latin typeface="Lato"/>
                    <a:ea typeface="Lato"/>
                    <a:cs typeface="Lato"/>
                    <a:sym typeface="Lato"/>
                  </a:rPr>
                  <a:t>5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- √ (A1</a:t>
                </a:r>
                <a:r>
                  <a:rPr baseline="-25000" lang="en" sz="1200">
                    <a:latin typeface="Lato"/>
                    <a:ea typeface="Lato"/>
                    <a:cs typeface="Lato"/>
                    <a:sym typeface="Lato"/>
                  </a:rPr>
                  <a:t>MDS1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-4)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+1     )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 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 (</a:t>
                </a:r>
                <a:r>
                  <a:rPr b="1" lang="en" sz="1200">
                    <a:latin typeface="Lato"/>
                    <a:ea typeface="Lato"/>
                    <a:cs typeface="Lato"/>
                    <a:sym typeface="Lato"/>
                  </a:rPr>
                  <a:t>3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- √ (A1</a:t>
                </a:r>
                <a:r>
                  <a:rPr baseline="-25000" lang="en" sz="1200">
                    <a:latin typeface="Lato"/>
                    <a:ea typeface="Lato"/>
                    <a:cs typeface="Lato"/>
                    <a:sym typeface="Lato"/>
                  </a:rPr>
                  <a:t>MDS1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-9)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+ 9    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+ 15,33</a:t>
                </a:r>
                <a:r>
                  <a:rPr baseline="-25000" lang="en" sz="1200"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)</a:t>
                </a:r>
                <a:br>
                  <a:rPr lang="en" sz="1200"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                                                                                            </a:t>
                </a:r>
                <a:br>
                  <a:rPr lang="en" sz="1200"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                                                                                                        </a:t>
                </a:r>
                <a:r>
                  <a:rPr lang="en">
                    <a:solidFill>
                      <a:schemeClr val="dk2"/>
                    </a:solidFill>
                  </a:rPr>
                  <a:t>∂</a:t>
                </a:r>
                <a:r>
                  <a:rPr lang="en" sz="1200">
                    <a:solidFill>
                      <a:schemeClr val="dk2"/>
                    </a:solidFill>
                  </a:rPr>
                  <a:t>A1</a:t>
                </a:r>
                <a:r>
                  <a:rPr baseline="-25000" lang="en" sz="1200">
                    <a:solidFill>
                      <a:schemeClr val="dk2"/>
                    </a:solidFill>
                  </a:rPr>
                  <a:t>MDS1</a:t>
                </a:r>
                <a:endParaRPr sz="12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29"/>
              <p:cNvSpPr txBox="1"/>
              <p:nvPr/>
            </p:nvSpPr>
            <p:spPr>
              <a:xfrm>
                <a:off x="211675" y="2095325"/>
                <a:ext cx="10230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u="sng">
                    <a:solidFill>
                      <a:schemeClr val="dk2"/>
                    </a:solidFill>
                  </a:rPr>
                  <a:t>∂Err </a:t>
                </a:r>
                <a:r>
                  <a:rPr lang="en">
                    <a:solidFill>
                      <a:schemeClr val="dk2"/>
                    </a:solidFill>
                  </a:rPr>
                  <a:t>    =</a:t>
                </a:r>
                <a:endParaRPr>
                  <a:solidFill>
                    <a:schemeClr val="dk2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2"/>
                    </a:solidFill>
                  </a:rPr>
                  <a:t>∂</a:t>
                </a:r>
                <a:r>
                  <a:rPr lang="en" sz="1200">
                    <a:solidFill>
                      <a:schemeClr val="dk2"/>
                    </a:solidFill>
                  </a:rPr>
                  <a:t>A1</a:t>
                </a:r>
                <a:r>
                  <a:rPr baseline="-25000" lang="en" sz="1200">
                    <a:solidFill>
                      <a:schemeClr val="dk2"/>
                    </a:solidFill>
                  </a:rPr>
                  <a:t>MDS1</a:t>
                </a:r>
                <a:endParaRPr baseline="-25000"/>
              </a:p>
            </p:txBody>
          </p:sp>
          <p:cxnSp>
            <p:nvCxnSpPr>
              <p:cNvPr id="315" name="Google Shape;315;p29"/>
              <p:cNvCxnSpPr/>
              <p:nvPr/>
            </p:nvCxnSpPr>
            <p:spPr>
              <a:xfrm>
                <a:off x="1792100" y="2095325"/>
                <a:ext cx="608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" name="Google Shape;316;p29"/>
              <p:cNvCxnSpPr/>
              <p:nvPr/>
            </p:nvCxnSpPr>
            <p:spPr>
              <a:xfrm>
                <a:off x="2469475" y="2166075"/>
                <a:ext cx="1178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" name="Google Shape;317;p29"/>
              <p:cNvCxnSpPr/>
              <p:nvPr/>
            </p:nvCxnSpPr>
            <p:spPr>
              <a:xfrm>
                <a:off x="4308150" y="2166075"/>
                <a:ext cx="1075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" name="Google Shape;318;p29"/>
              <p:cNvCxnSpPr/>
              <p:nvPr/>
            </p:nvCxnSpPr>
            <p:spPr>
              <a:xfrm flipH="1" rot="10800000">
                <a:off x="6025450" y="2166200"/>
                <a:ext cx="1065600" cy="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19" name="Google Shape;319;p29"/>
            <p:cNvCxnSpPr/>
            <p:nvPr/>
          </p:nvCxnSpPr>
          <p:spPr>
            <a:xfrm flipH="1" rot="10800000">
              <a:off x="1234675" y="2497700"/>
              <a:ext cx="6918000" cy="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0" name="Google Shape;320;p29"/>
          <p:cNvSpPr txBox="1"/>
          <p:nvPr/>
        </p:nvSpPr>
        <p:spPr>
          <a:xfrm>
            <a:off x="345725" y="2878675"/>
            <a:ext cx="751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Si llamamos a 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, “</a:t>
            </a:r>
            <a:r>
              <a:rPr i="1" lang="en" sz="1200"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” por simplicidad obtendremos la siguiente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fórmula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para la derivada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1" name="Google Shape;321;p29"/>
          <p:cNvGrpSpPr/>
          <p:nvPr/>
        </p:nvGrpSpPr>
        <p:grpSpPr>
          <a:xfrm>
            <a:off x="402175" y="3257958"/>
            <a:ext cx="6781570" cy="1217375"/>
            <a:chOff x="402175" y="3257958"/>
            <a:chExt cx="6781570" cy="1217375"/>
          </a:xfrm>
        </p:grpSpPr>
        <p:sp>
          <p:nvSpPr>
            <p:cNvPr id="322" name="Google Shape;322;p29"/>
            <p:cNvSpPr txBox="1"/>
            <p:nvPr/>
          </p:nvSpPr>
          <p:spPr>
            <a:xfrm>
              <a:off x="402175" y="3558838"/>
              <a:ext cx="1023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u="sng">
                  <a:solidFill>
                    <a:schemeClr val="dk2"/>
                  </a:solidFill>
                </a:rPr>
                <a:t>∂Err </a:t>
              </a:r>
              <a:r>
                <a:rPr lang="en">
                  <a:solidFill>
                    <a:schemeClr val="dk2"/>
                  </a:solidFill>
                </a:rPr>
                <a:t>    =</a:t>
              </a:r>
              <a:endParaRPr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A1</a:t>
              </a:r>
              <a:r>
                <a:rPr baseline="-25000" lang="en" sz="1200">
                  <a:solidFill>
                    <a:schemeClr val="dk2"/>
                  </a:solidFill>
                </a:rPr>
                <a:t>MDS1</a:t>
              </a:r>
              <a:endParaRPr baseline="-25000"/>
            </a:p>
          </p:txBody>
        </p:sp>
        <p:pic>
          <p:nvPicPr>
            <p:cNvPr id="323" name="Google Shape;323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68721" y="3257958"/>
              <a:ext cx="5815025" cy="1217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204600" y="1460500"/>
            <a:ext cx="420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es la función de error, para A1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valor actual es 10, y vemos que baja si nos movemos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 la izquierda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0" name="Google Shape;3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6300" y="1279525"/>
            <a:ext cx="3692294" cy="37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204700" y="1279525"/>
            <a:ext cx="420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es la función de error, para A1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valor actual es 10, y vemos que baja si nos movemos a la izquierda.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176375" y="2015050"/>
            <a:ext cx="42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Veamos que nos indica su derivada.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204700" y="2326225"/>
            <a:ext cx="3951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10, nos da un valor de 0.3, nos indica que crece en dicha dirección. Es decir crece en dirección positiva. El 0.3, nos indica la tasa de aumento del error.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queremos que decrezca iremos en dirección opuesta, nos moveremos hacia el lado negativo de X.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¿Pero cuanto?</a:t>
            </a:r>
            <a:endParaRPr b="1" i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Usamos para ello el parámetro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learning 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que puede tomar valores entre 0 y 1.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9" name="Google Shape;3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025" y="1089025"/>
            <a:ext cx="3721154" cy="3711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31"/>
          <p:cNvCxnSpPr/>
          <p:nvPr/>
        </p:nvCxnSpPr>
        <p:spPr>
          <a:xfrm flipH="1" rot="10800000">
            <a:off x="6745125" y="2723350"/>
            <a:ext cx="592800" cy="240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204700" y="1404050"/>
            <a:ext cx="395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l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earning 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es, por ejemplo 0.5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Actualizaremos A1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con la siguiente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fórmula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A1’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 A1’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+ 0.5 x (-1) x (0.3)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A1’</a:t>
            </a:r>
            <a:r>
              <a:rPr baseline="-25000"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=  9,85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7" name="Google Shape;3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6825" y="1089025"/>
            <a:ext cx="3745537" cy="371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32"/>
          <p:cNvCxnSpPr/>
          <p:nvPr/>
        </p:nvCxnSpPr>
        <p:spPr>
          <a:xfrm flipH="1">
            <a:off x="6088975" y="3033875"/>
            <a:ext cx="381000" cy="105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2"/>
          <p:cNvSpPr txBox="1"/>
          <p:nvPr/>
        </p:nvSpPr>
        <p:spPr>
          <a:xfrm>
            <a:off x="345725" y="31185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Nos movemos un pequeño paso en la dirección correcta para achicar el error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graphicFrame>
        <p:nvGraphicFramePr>
          <p:cNvPr id="355" name="Google Shape;355;p33"/>
          <p:cNvGraphicFramePr/>
          <p:nvPr/>
        </p:nvGraphicFramePr>
        <p:xfrm>
          <a:off x="120325" y="166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9.85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8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4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5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6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2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56" name="Google Shape;356;p33"/>
          <p:cNvGrpSpPr/>
          <p:nvPr/>
        </p:nvGrpSpPr>
        <p:grpSpPr>
          <a:xfrm>
            <a:off x="599825" y="1235900"/>
            <a:ext cx="8466300" cy="431100"/>
            <a:chOff x="204700" y="4318000"/>
            <a:chExt cx="8466300" cy="431100"/>
          </a:xfrm>
        </p:grpSpPr>
        <p:sp>
          <p:nvSpPr>
            <p:cNvPr id="357" name="Google Shape;357;p33"/>
            <p:cNvSpPr txBox="1"/>
            <p:nvPr/>
          </p:nvSpPr>
          <p:spPr>
            <a:xfrm>
              <a:off x="204700" y="431800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|| A1-A2 || )</a:t>
              </a:r>
              <a:r>
                <a:rPr baseline="30000" lang="en" sz="1200"/>
                <a:t>2</a:t>
              </a:r>
              <a:r>
                <a:rPr lang="en" sz="1200"/>
                <a:t> + (5 - || A1-A3 || )</a:t>
              </a:r>
              <a:r>
                <a:rPr baseline="30000" lang="en" sz="1200"/>
                <a:t>2</a:t>
              </a:r>
              <a:r>
                <a:rPr lang="en" sz="1200"/>
                <a:t> + (3 - || A1-A4 || )</a:t>
              </a:r>
              <a:r>
                <a:rPr baseline="30000" lang="en" sz="1200"/>
                <a:t>2</a:t>
              </a:r>
              <a:r>
                <a:rPr lang="en" sz="1200"/>
                <a:t> + (6 - || A2-A3 || )</a:t>
              </a:r>
              <a:r>
                <a:rPr baseline="30000" lang="en" sz="1200"/>
                <a:t>2</a:t>
              </a:r>
              <a:r>
                <a:rPr lang="en" sz="1200"/>
                <a:t> + (3.4 - || A2-A4 || )</a:t>
              </a:r>
              <a:r>
                <a:rPr baseline="30000" lang="en" sz="1200"/>
                <a:t>2</a:t>
              </a:r>
              <a:r>
                <a:rPr lang="en" sz="1200"/>
                <a:t> + (5.6 - || A3-A4 ||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358" name="Google Shape;358;p33"/>
            <p:cNvCxnSpPr/>
            <p:nvPr/>
          </p:nvCxnSpPr>
          <p:spPr>
            <a:xfrm>
              <a:off x="416000" y="4423850"/>
              <a:ext cx="7930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9" name="Google Shape;359;p33"/>
          <p:cNvSpPr txBox="1"/>
          <p:nvPr/>
        </p:nvSpPr>
        <p:spPr>
          <a:xfrm>
            <a:off x="3760625" y="1775775"/>
            <a:ext cx="338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A2 || = √ ((</a:t>
            </a:r>
            <a:r>
              <a:rPr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9.85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-8)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4,41 </a:t>
            </a:r>
            <a:endParaRPr b="1" sz="1200"/>
          </a:p>
        </p:txBody>
      </p:sp>
      <p:sp>
        <p:nvSpPr>
          <p:cNvPr id="360" name="Google Shape;360;p33"/>
          <p:cNvSpPr txBox="1"/>
          <p:nvPr/>
        </p:nvSpPr>
        <p:spPr>
          <a:xfrm>
            <a:off x="3760625" y="2145075"/>
            <a:ext cx="299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A3 || = √ ((</a:t>
            </a:r>
            <a:r>
              <a:rPr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9.85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-4)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(5-6)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5.93</a:t>
            </a:r>
            <a:endParaRPr b="1" sz="1200"/>
          </a:p>
        </p:txBody>
      </p:sp>
      <p:sp>
        <p:nvSpPr>
          <p:cNvPr id="361" name="Google Shape;361;p33"/>
          <p:cNvSpPr txBox="1"/>
          <p:nvPr/>
        </p:nvSpPr>
        <p:spPr>
          <a:xfrm>
            <a:off x="3760625" y="2514375"/>
            <a:ext cx="306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A4 || = √ ((</a:t>
            </a:r>
            <a:r>
              <a:rPr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9.85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3,11</a:t>
            </a:r>
            <a:endParaRPr b="1" sz="1200"/>
          </a:p>
        </p:txBody>
      </p:sp>
      <p:sp>
        <p:nvSpPr>
          <p:cNvPr id="362" name="Google Shape;362;p33"/>
          <p:cNvSpPr txBox="1"/>
          <p:nvPr/>
        </p:nvSpPr>
        <p:spPr>
          <a:xfrm>
            <a:off x="3793100" y="28836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A2 - A3 || = √ ((8-4)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(9-6)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5</a:t>
            </a:r>
            <a:endParaRPr b="1" sz="1200"/>
          </a:p>
        </p:txBody>
      </p:sp>
      <p:sp>
        <p:nvSpPr>
          <p:cNvPr id="363" name="Google Shape;363;p33"/>
          <p:cNvSpPr txBox="1"/>
          <p:nvPr/>
        </p:nvSpPr>
        <p:spPr>
          <a:xfrm>
            <a:off x="3793100" y="32529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A2 - A4 || = √ ((8-9)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(9-2)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7.1</a:t>
            </a:r>
            <a:endParaRPr b="1" sz="1200"/>
          </a:p>
        </p:txBody>
      </p:sp>
      <p:sp>
        <p:nvSpPr>
          <p:cNvPr id="364" name="Google Shape;364;p33"/>
          <p:cNvSpPr txBox="1"/>
          <p:nvPr/>
        </p:nvSpPr>
        <p:spPr>
          <a:xfrm>
            <a:off x="3793100" y="36222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A3 - A4 || = √ ((4-9)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(6-2)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6.4</a:t>
            </a:r>
            <a:endParaRPr b="1" sz="1200"/>
          </a:p>
        </p:txBody>
      </p:sp>
      <p:grpSp>
        <p:nvGrpSpPr>
          <p:cNvPr id="365" name="Google Shape;365;p33"/>
          <p:cNvGrpSpPr/>
          <p:nvPr/>
        </p:nvGrpSpPr>
        <p:grpSpPr>
          <a:xfrm>
            <a:off x="120319" y="4062350"/>
            <a:ext cx="5601304" cy="431100"/>
            <a:chOff x="120325" y="4062350"/>
            <a:chExt cx="8466300" cy="431100"/>
          </a:xfrm>
        </p:grpSpPr>
        <p:sp>
          <p:nvSpPr>
            <p:cNvPr id="366" name="Google Shape;366;p33"/>
            <p:cNvSpPr txBox="1"/>
            <p:nvPr/>
          </p:nvSpPr>
          <p:spPr>
            <a:xfrm>
              <a:off x="120325" y="406235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</a:t>
              </a:r>
              <a:r>
                <a:rPr lang="en" sz="1200">
                  <a:solidFill>
                    <a:srgbClr val="0000FF"/>
                  </a:solidFill>
                </a:rPr>
                <a:t>4.41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(5 - </a:t>
              </a:r>
              <a:r>
                <a:rPr lang="en" sz="1200">
                  <a:solidFill>
                    <a:srgbClr val="0000FF"/>
                  </a:solidFill>
                </a:rPr>
                <a:t>5.93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(3 - </a:t>
              </a:r>
              <a:r>
                <a:rPr lang="en" sz="1200">
                  <a:solidFill>
                    <a:srgbClr val="0000FF"/>
                  </a:solidFill>
                </a:rPr>
                <a:t>3.11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(6 - </a:t>
              </a:r>
              <a:r>
                <a:rPr lang="en" sz="1200">
                  <a:solidFill>
                    <a:schemeClr val="accent3"/>
                  </a:solidFill>
                </a:rPr>
                <a:t>5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(3.4 - </a:t>
              </a:r>
              <a:r>
                <a:rPr lang="en" sz="1200">
                  <a:solidFill>
                    <a:schemeClr val="accent3"/>
                  </a:solidFill>
                </a:rPr>
                <a:t>7.1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(5.6 -</a:t>
              </a:r>
              <a:r>
                <a:rPr lang="en" sz="1200">
                  <a:solidFill>
                    <a:schemeClr val="accent3"/>
                  </a:solidFill>
                </a:rPr>
                <a:t> 6.4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367" name="Google Shape;367;p33"/>
            <p:cNvCxnSpPr/>
            <p:nvPr/>
          </p:nvCxnSpPr>
          <p:spPr>
            <a:xfrm flipH="1" rot="10800000">
              <a:off x="461023" y="4141625"/>
              <a:ext cx="8008800" cy="2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8" name="Google Shape;368;p33"/>
          <p:cNvSpPr txBox="1"/>
          <p:nvPr/>
        </p:nvSpPr>
        <p:spPr>
          <a:xfrm>
            <a:off x="5651500" y="4077800"/>
            <a:ext cx="73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</a:t>
            </a:r>
            <a:r>
              <a:rPr b="1"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69" name="Google Shape;369;p33"/>
          <p:cNvGrpSpPr/>
          <p:nvPr/>
        </p:nvGrpSpPr>
        <p:grpSpPr>
          <a:xfrm>
            <a:off x="5609150" y="3064211"/>
            <a:ext cx="3548850" cy="1462551"/>
            <a:chOff x="5609150" y="3064211"/>
            <a:chExt cx="3548850" cy="1462551"/>
          </a:xfrm>
        </p:grpSpPr>
        <p:sp>
          <p:nvSpPr>
            <p:cNvPr id="370" name="Google Shape;370;p33"/>
            <p:cNvSpPr/>
            <p:nvPr/>
          </p:nvSpPr>
          <p:spPr>
            <a:xfrm>
              <a:off x="5609150" y="3991563"/>
              <a:ext cx="776100" cy="535200"/>
            </a:xfrm>
            <a:prstGeom prst="ellipse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3"/>
            <p:cNvSpPr txBox="1"/>
            <p:nvPr/>
          </p:nvSpPr>
          <p:spPr>
            <a:xfrm>
              <a:off x="6601100" y="3064211"/>
              <a:ext cx="2556900" cy="6156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Redujimos el error de 4.05 a 4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72" name="Google Shape;372;p33"/>
            <p:cNvCxnSpPr/>
            <p:nvPr/>
          </p:nvCxnSpPr>
          <p:spPr>
            <a:xfrm flipH="1" rot="10800000">
              <a:off x="6385250" y="3679788"/>
              <a:ext cx="1494300" cy="5259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med" w="med" type="none"/>
              <a:tailEnd len="med" w="med" type="triangle"/>
            </a:ln>
          </p:spPr>
        </p:cxnSp>
      </p:grpSp>
      <p:sp>
        <p:nvSpPr>
          <p:cNvPr id="373" name="Google Shape;373;p33"/>
          <p:cNvSpPr txBox="1"/>
          <p:nvPr/>
        </p:nvSpPr>
        <p:spPr>
          <a:xfrm>
            <a:off x="0" y="1251350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Stress=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79" name="Google Shape;379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</a:t>
            </a:r>
            <a:r>
              <a:rPr lang="en"/>
              <a:t>cálculo</a:t>
            </a:r>
            <a:r>
              <a:rPr lang="en"/>
              <a:t> que se hizo para el componente A1</a:t>
            </a:r>
            <a:r>
              <a:rPr baseline="-25000" lang="en"/>
              <a:t>MDS1</a:t>
            </a:r>
            <a:r>
              <a:rPr lang="en"/>
              <a:t>, hay que repetirlo para todos los </a:t>
            </a:r>
            <a:r>
              <a:rPr lang="en"/>
              <a:t>componentes</a:t>
            </a:r>
            <a:r>
              <a:rPr lang="en"/>
              <a:t> y en</a:t>
            </a:r>
            <a:r>
              <a:rPr b="1" lang="en"/>
              <a:t> N</a:t>
            </a:r>
            <a:r>
              <a:rPr lang="en"/>
              <a:t> pasos iterativos ir achicando el error cada vez más, hasta llegar a cero o al menor valor posible (el </a:t>
            </a:r>
            <a:r>
              <a:rPr lang="en"/>
              <a:t>mínimo</a:t>
            </a:r>
            <a:r>
              <a:rPr lang="en"/>
              <a:t> de la función de error).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Cabe destacar que en general las </a:t>
            </a:r>
            <a:r>
              <a:rPr lang="en"/>
              <a:t>raíces</a:t>
            </a:r>
            <a:r>
              <a:rPr lang="en"/>
              <a:t> se las elimina de la ecuación para facilitar los </a:t>
            </a:r>
            <a:r>
              <a:rPr lang="en"/>
              <a:t>cálculos</a:t>
            </a:r>
            <a:r>
              <a:rPr lang="en"/>
              <a:t>, y lo que se intenta minimizar es el </a:t>
            </a:r>
            <a:r>
              <a:rPr b="1" lang="en"/>
              <a:t>error </a:t>
            </a:r>
            <a:r>
              <a:rPr b="1" lang="en"/>
              <a:t>cuadrático</a:t>
            </a:r>
            <a:r>
              <a:rPr lang="en"/>
              <a:t> (es decir el error al cuadrado, o sin la </a:t>
            </a:r>
            <a:r>
              <a:rPr lang="en"/>
              <a:t>raíz</a:t>
            </a:r>
            <a:r>
              <a:rPr lang="en"/>
              <a:t>) ya que minimizar el error </a:t>
            </a:r>
            <a:r>
              <a:rPr lang="en"/>
              <a:t>cuadrático</a:t>
            </a:r>
            <a:r>
              <a:rPr lang="en"/>
              <a:t> es lo mismo que minimizar el error real.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 este ejemplo se calculó la derivada con la </a:t>
            </a:r>
            <a:r>
              <a:rPr lang="en"/>
              <a:t>raíz</a:t>
            </a:r>
            <a:r>
              <a:rPr lang="en"/>
              <a:t> cuadrada, para no perder la forma original de la función de error.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Volviendo a MDS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" name="Google Shape;389;p36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{05CF6F7B-B682-43F8-839F-B1F04C7D810F}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0" name="Google Shape;390;p36"/>
          <p:cNvSpPr txBox="1"/>
          <p:nvPr/>
        </p:nvSpPr>
        <p:spPr>
          <a:xfrm>
            <a:off x="138213" y="1486075"/>
            <a:ext cx="469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Eventualmente habremos obtenido toda una nueva serie de coordenadas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91" name="Google Shape;391;p36"/>
          <p:cNvGrpSpPr/>
          <p:nvPr/>
        </p:nvGrpSpPr>
        <p:grpSpPr>
          <a:xfrm>
            <a:off x="4862725" y="1790800"/>
            <a:ext cx="3686900" cy="3047850"/>
            <a:chOff x="4862725" y="1790800"/>
            <a:chExt cx="3686900" cy="3047850"/>
          </a:xfrm>
        </p:grpSpPr>
        <p:cxnSp>
          <p:nvCxnSpPr>
            <p:cNvPr id="392" name="Google Shape;392;p36"/>
            <p:cNvCxnSpPr/>
            <p:nvPr/>
          </p:nvCxnSpPr>
          <p:spPr>
            <a:xfrm>
              <a:off x="5138025" y="4421950"/>
              <a:ext cx="3411600" cy="0"/>
            </a:xfrm>
            <a:prstGeom prst="straightConnector1">
              <a:avLst/>
            </a:prstGeom>
            <a:noFill/>
            <a:ln cap="flat" cmpd="sng" w="28575">
              <a:solidFill>
                <a:srgbClr val="6FA8DC"/>
              </a:solidFill>
              <a:prstDash val="solid"/>
              <a:round/>
              <a:headEnd len="med" w="med" type="diamond"/>
              <a:tailEnd len="med" w="med" type="triangle"/>
            </a:ln>
          </p:spPr>
        </p:cxnSp>
        <p:sp>
          <p:nvSpPr>
            <p:cNvPr id="393" name="Google Shape;393;p36"/>
            <p:cNvSpPr/>
            <p:nvPr/>
          </p:nvSpPr>
          <p:spPr>
            <a:xfrm>
              <a:off x="5557000" y="31617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6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5192700" y="28271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5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6004088" y="289215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4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7988025" y="2827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3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7201600" y="26335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1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7597175" y="30858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2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9" name="Google Shape;399;p36"/>
            <p:cNvSpPr txBox="1"/>
            <p:nvPr/>
          </p:nvSpPr>
          <p:spPr>
            <a:xfrm>
              <a:off x="6267375" y="4469350"/>
              <a:ext cx="1118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MDS1</a:t>
              </a:r>
              <a:endParaRPr/>
            </a:p>
          </p:txBody>
        </p:sp>
        <p:cxnSp>
          <p:nvCxnSpPr>
            <p:cNvPr id="400" name="Google Shape;400;p36"/>
            <p:cNvCxnSpPr/>
            <p:nvPr/>
          </p:nvCxnSpPr>
          <p:spPr>
            <a:xfrm rot="10800000">
              <a:off x="5192700" y="2175550"/>
              <a:ext cx="0" cy="2293800"/>
            </a:xfrm>
            <a:prstGeom prst="straightConnector1">
              <a:avLst/>
            </a:prstGeom>
            <a:noFill/>
            <a:ln cap="flat" cmpd="sng" w="28575">
              <a:solidFill>
                <a:srgbClr val="6FA8DC"/>
              </a:solidFill>
              <a:prstDash val="solid"/>
              <a:round/>
              <a:headEnd len="med" w="med" type="diamond"/>
              <a:tailEnd len="med" w="med" type="triangle"/>
            </a:ln>
          </p:spPr>
        </p:cxnSp>
        <p:sp>
          <p:nvSpPr>
            <p:cNvPr id="401" name="Google Shape;401;p36"/>
            <p:cNvSpPr txBox="1"/>
            <p:nvPr/>
          </p:nvSpPr>
          <p:spPr>
            <a:xfrm>
              <a:off x="4862725" y="1790800"/>
              <a:ext cx="1118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MDS2</a:t>
              </a:r>
              <a:endParaRPr/>
            </a:p>
          </p:txBody>
        </p:sp>
      </p:grpSp>
      <p:sp>
        <p:nvSpPr>
          <p:cNvPr id="402" name="Google Shape;402;p36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4862725" y="1127125"/>
            <a:ext cx="41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 graficar el resultado final de dicha matriz: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200775" y="3972300"/>
            <a:ext cx="45651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¡Y obtenemos el mismo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 que obtuvimos con PCA!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410" name="Google Shape;410;p37"/>
          <p:cNvSpPr txBox="1"/>
          <p:nvPr/>
        </p:nvSpPr>
        <p:spPr>
          <a:xfrm>
            <a:off x="811400" y="1446400"/>
            <a:ext cx="7688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Tratar de formar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clusters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con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técnica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 minimizar las distancias lineales entre los puntos, es exactamente lo mismo que maximizar la correlación lineal.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Pero siempre podemos utilizar otras medidas de distancias: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11" name="Google Shape;411;p37"/>
          <p:cNvGrpSpPr/>
          <p:nvPr/>
        </p:nvGrpSpPr>
        <p:grpSpPr>
          <a:xfrm>
            <a:off x="70550" y="2493100"/>
            <a:ext cx="3000000" cy="2119600"/>
            <a:chOff x="70550" y="2493100"/>
            <a:chExt cx="3000000" cy="2119600"/>
          </a:xfrm>
        </p:grpSpPr>
        <p:pic>
          <p:nvPicPr>
            <p:cNvPr id="412" name="Google Shape;412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7388" y="2944650"/>
              <a:ext cx="2606325" cy="1668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7"/>
            <p:cNvSpPr txBox="1"/>
            <p:nvPr/>
          </p:nvSpPr>
          <p:spPr>
            <a:xfrm>
              <a:off x="70550" y="249310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	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Manhattan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distance</a:t>
              </a:r>
              <a:endParaRPr/>
            </a:p>
          </p:txBody>
        </p:sp>
      </p:grpSp>
      <p:sp>
        <p:nvSpPr>
          <p:cNvPr id="414" name="Google Shape;414;p37"/>
          <p:cNvSpPr txBox="1"/>
          <p:nvPr/>
        </p:nvSpPr>
        <p:spPr>
          <a:xfrm>
            <a:off x="3072000" y="2493100"/>
            <a:ext cx="21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Hamming Distance</a:t>
            </a:r>
            <a:endParaRPr/>
          </a:p>
        </p:txBody>
      </p:sp>
      <p:pic>
        <p:nvPicPr>
          <p:cNvPr id="415" name="Google Shape;41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0550" y="2893300"/>
            <a:ext cx="2178762" cy="1719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" name="Google Shape;416;p37"/>
          <p:cNvGrpSpPr/>
          <p:nvPr/>
        </p:nvGrpSpPr>
        <p:grpSpPr>
          <a:xfrm>
            <a:off x="5444026" y="2493100"/>
            <a:ext cx="1999649" cy="2119600"/>
            <a:chOff x="5444026" y="2493100"/>
            <a:chExt cx="1999649" cy="2119600"/>
          </a:xfrm>
        </p:grpSpPr>
        <p:sp>
          <p:nvSpPr>
            <p:cNvPr id="417" name="Google Shape;417;p37"/>
            <p:cNvSpPr txBox="1"/>
            <p:nvPr/>
          </p:nvSpPr>
          <p:spPr>
            <a:xfrm>
              <a:off x="5493975" y="2493100"/>
              <a:ext cx="194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Great-circle distance</a:t>
              </a:r>
              <a:endParaRPr/>
            </a:p>
          </p:txBody>
        </p:sp>
        <p:pic>
          <p:nvPicPr>
            <p:cNvPr id="418" name="Google Shape;418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44026" y="2893300"/>
              <a:ext cx="1719400" cy="17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9" name="Google Shape;419;p37"/>
          <p:cNvSpPr txBox="1"/>
          <p:nvPr/>
        </p:nvSpPr>
        <p:spPr>
          <a:xfrm>
            <a:off x="296325" y="4656650"/>
            <a:ext cx="8267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Hamming Distance </a:t>
            </a:r>
            <a:r>
              <a:rPr lang="en" sz="900"/>
              <a:t>: </a:t>
            </a:r>
            <a:r>
              <a:rPr lang="en" sz="900"/>
              <a:t>mide el número mínimo de sustituciones requeridas para cambiar una cadena por otra. </a:t>
            </a: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ka</a:t>
            </a:r>
            <a:r>
              <a:rPr b="1" lang="en" sz="1050">
                <a:solidFill>
                  <a:srgbClr val="FF0000"/>
                </a:solidFill>
                <a:highlight>
                  <a:srgbClr val="FFFFFF"/>
                </a:highlight>
              </a:rPr>
              <a:t>rol</a:t>
            </a: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in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" y "</a:t>
            </a: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ka</a:t>
            </a:r>
            <a:r>
              <a:rPr b="1" lang="en" sz="1050">
                <a:solidFill>
                  <a:srgbClr val="FF0000"/>
                </a:solidFill>
                <a:highlight>
                  <a:srgbClr val="FFFFFF"/>
                </a:highlight>
              </a:rPr>
              <a:t>thr</a:t>
            </a: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in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" tienen distancia 3.</a:t>
            </a:r>
            <a:endParaRPr sz="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grpSp>
        <p:nvGrpSpPr>
          <p:cNvPr id="425" name="Google Shape;425;p38"/>
          <p:cNvGrpSpPr/>
          <p:nvPr/>
        </p:nvGrpSpPr>
        <p:grpSpPr>
          <a:xfrm>
            <a:off x="727650" y="1173450"/>
            <a:ext cx="8162550" cy="1853375"/>
            <a:chOff x="727650" y="1173450"/>
            <a:chExt cx="8162550" cy="1853375"/>
          </a:xfrm>
        </p:grpSpPr>
        <p:sp>
          <p:nvSpPr>
            <p:cNvPr id="426" name="Google Shape;426;p38"/>
            <p:cNvSpPr txBox="1"/>
            <p:nvPr/>
          </p:nvSpPr>
          <p:spPr>
            <a:xfrm>
              <a:off x="727650" y="180620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Mahalanobis distance</a:t>
              </a:r>
              <a:endParaRPr/>
            </a:p>
          </p:txBody>
        </p:sp>
        <p:pic>
          <p:nvPicPr>
            <p:cNvPr id="427" name="Google Shape;42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03200" y="1173450"/>
              <a:ext cx="5287000" cy="1853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8" name="Google Shape;428;p38"/>
          <p:cNvSpPr txBox="1"/>
          <p:nvPr/>
        </p:nvSpPr>
        <p:spPr>
          <a:xfrm>
            <a:off x="727650" y="3386650"/>
            <a:ext cx="809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puede definir cualquier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fórmula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apropiada al problema a resolver para medir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cuán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“cerca” o “lejos” están dos variables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434" name="Google Shape;434;p39"/>
          <p:cNvSpPr txBox="1"/>
          <p:nvPr/>
        </p:nvSpPr>
        <p:spPr>
          <a:xfrm>
            <a:off x="797275" y="1545175"/>
            <a:ext cx="6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5" name="Google Shape;435;p39"/>
          <p:cNvSpPr txBox="1"/>
          <p:nvPr/>
        </p:nvSpPr>
        <p:spPr>
          <a:xfrm>
            <a:off x="6389500" y="1545175"/>
            <a:ext cx="16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MDS y PCoA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" name="Google Shape;436;p39"/>
          <p:cNvSpPr txBox="1"/>
          <p:nvPr/>
        </p:nvSpPr>
        <p:spPr>
          <a:xfrm>
            <a:off x="727650" y="1876775"/>
            <a:ext cx="23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Correlación entre ejemplos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7" name="Google Shape;437;p39"/>
          <p:cNvSpPr txBox="1"/>
          <p:nvPr/>
        </p:nvSpPr>
        <p:spPr>
          <a:xfrm>
            <a:off x="5846050" y="1945375"/>
            <a:ext cx="23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entre ejemplos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39"/>
          <p:cNvSpPr txBox="1"/>
          <p:nvPr/>
        </p:nvSpPr>
        <p:spPr>
          <a:xfrm>
            <a:off x="3672450" y="2571750"/>
            <a:ext cx="17991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Descomposición en autovectores y autovalores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9" name="Google Shape;439;p39"/>
          <p:cNvCxnSpPr>
            <a:stCxn id="436" idx="3"/>
            <a:endCxn id="438" idx="0"/>
          </p:cNvCxnSpPr>
          <p:nvPr/>
        </p:nvCxnSpPr>
        <p:spPr>
          <a:xfrm>
            <a:off x="3063150" y="2076875"/>
            <a:ext cx="1509000" cy="495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39"/>
          <p:cNvCxnSpPr>
            <a:stCxn id="437" idx="1"/>
            <a:endCxn id="438" idx="0"/>
          </p:cNvCxnSpPr>
          <p:nvPr/>
        </p:nvCxnSpPr>
        <p:spPr>
          <a:xfrm flipH="1">
            <a:off x="4571950" y="2145475"/>
            <a:ext cx="1274100" cy="426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41" name="Google Shape;441;p39"/>
          <p:cNvGrpSpPr/>
          <p:nvPr/>
        </p:nvGrpSpPr>
        <p:grpSpPr>
          <a:xfrm>
            <a:off x="3672450" y="3403050"/>
            <a:ext cx="1799100" cy="1574800"/>
            <a:chOff x="3672450" y="3403050"/>
            <a:chExt cx="1799100" cy="1574800"/>
          </a:xfrm>
        </p:grpSpPr>
        <p:sp>
          <p:nvSpPr>
            <p:cNvPr id="442" name="Google Shape;442;p39"/>
            <p:cNvSpPr txBox="1"/>
            <p:nvPr/>
          </p:nvSpPr>
          <p:spPr>
            <a:xfrm>
              <a:off x="3672450" y="4146550"/>
              <a:ext cx="1799100" cy="831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Porcentaje de variación para cada eje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43" name="Google Shape;443;p39"/>
            <p:cNvCxnSpPr>
              <a:stCxn id="438" idx="2"/>
              <a:endCxn id="442" idx="0"/>
            </p:cNvCxnSpPr>
            <p:nvPr/>
          </p:nvCxnSpPr>
          <p:spPr>
            <a:xfrm>
              <a:off x="4572000" y="3403050"/>
              <a:ext cx="0" cy="743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4" name="Google Shape;444;p39"/>
          <p:cNvGrpSpPr/>
          <p:nvPr/>
        </p:nvGrpSpPr>
        <p:grpSpPr>
          <a:xfrm>
            <a:off x="417025" y="3403050"/>
            <a:ext cx="4154975" cy="1199650"/>
            <a:chOff x="417025" y="3403050"/>
            <a:chExt cx="4154975" cy="1199650"/>
          </a:xfrm>
        </p:grpSpPr>
        <p:sp>
          <p:nvSpPr>
            <p:cNvPr id="445" name="Google Shape;445;p39"/>
            <p:cNvSpPr txBox="1"/>
            <p:nvPr/>
          </p:nvSpPr>
          <p:spPr>
            <a:xfrm>
              <a:off x="417025" y="3987100"/>
              <a:ext cx="1799100" cy="615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Coordenadas para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graficar en 2D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46" name="Google Shape;446;p39"/>
            <p:cNvCxnSpPr>
              <a:stCxn id="438" idx="2"/>
              <a:endCxn id="445" idx="0"/>
            </p:cNvCxnSpPr>
            <p:nvPr/>
          </p:nvCxnSpPr>
          <p:spPr>
            <a:xfrm flipH="1">
              <a:off x="1316700" y="3403050"/>
              <a:ext cx="3255300" cy="5841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7" name="Google Shape;447;p39"/>
          <p:cNvGrpSpPr/>
          <p:nvPr/>
        </p:nvGrpSpPr>
        <p:grpSpPr>
          <a:xfrm>
            <a:off x="4572000" y="3403050"/>
            <a:ext cx="3609550" cy="1199650"/>
            <a:chOff x="4572000" y="3403050"/>
            <a:chExt cx="3609550" cy="1199650"/>
          </a:xfrm>
        </p:grpSpPr>
        <p:sp>
          <p:nvSpPr>
            <p:cNvPr id="448" name="Google Shape;448;p39"/>
            <p:cNvSpPr txBox="1"/>
            <p:nvPr/>
          </p:nvSpPr>
          <p:spPr>
            <a:xfrm>
              <a:off x="6382450" y="3987100"/>
              <a:ext cx="1799100" cy="615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Determinar puntaje de variables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49" name="Google Shape;449;p39"/>
            <p:cNvCxnSpPr>
              <a:stCxn id="438" idx="2"/>
              <a:endCxn id="448" idx="0"/>
            </p:cNvCxnSpPr>
            <p:nvPr/>
          </p:nvCxnSpPr>
          <p:spPr>
            <a:xfrm>
              <a:off x="4572000" y="3403050"/>
              <a:ext cx="2709900" cy="5841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0"/>
          <p:cNvSpPr txBox="1"/>
          <p:nvPr>
            <p:ph type="title"/>
          </p:nvPr>
        </p:nvSpPr>
        <p:spPr>
          <a:xfrm>
            <a:off x="727650" y="1205750"/>
            <a:ext cx="76887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40"/>
              <a:t>Ejemplo</a:t>
            </a:r>
            <a:r>
              <a:rPr b="0" lang="en" sz="1940"/>
              <a:t>: Ambos </a:t>
            </a:r>
            <a:r>
              <a:rPr b="0" lang="en" sz="1940"/>
              <a:t>gráficos</a:t>
            </a:r>
            <a:r>
              <a:rPr b="0" lang="en" sz="1940"/>
              <a:t> tienen la misma matriz de </a:t>
            </a:r>
            <a:r>
              <a:rPr b="0" lang="en" sz="1940"/>
              <a:t>distancia</a:t>
            </a:r>
            <a:r>
              <a:rPr b="0" lang="en" sz="1940"/>
              <a:t>.</a:t>
            </a:r>
            <a:endParaRPr b="0" sz="1940"/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3">
            <a:alphaModFix/>
          </a:blip>
          <a:srcRect b="21831" l="5386" r="49991" t="51117"/>
          <a:stretch/>
        </p:blipFill>
        <p:spPr>
          <a:xfrm>
            <a:off x="387860" y="2043920"/>
            <a:ext cx="8622360" cy="293976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 txBox="1"/>
          <p:nvPr>
            <p:ph idx="1" type="body"/>
          </p:nvPr>
        </p:nvSpPr>
        <p:spPr>
          <a:xfrm>
            <a:off x="729450" y="1425225"/>
            <a:ext cx="7688700" cy="29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Fortalezas: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10" lvl="0" marL="457200" rtl="0" algn="l"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Char char="●"/>
            </a:pPr>
            <a:r>
              <a:rPr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Soporta varios tipos de distancias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Char char="●"/>
            </a:pPr>
            <a:r>
              <a:rPr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 transformaciones no lineales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Debilidades: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10" lvl="0" marL="457200" rtl="0" algn="l"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Char char="●"/>
            </a:pPr>
            <a:r>
              <a:rPr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Optimización iterativa con mínimos locales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Char char="●"/>
            </a:pPr>
            <a:r>
              <a:rPr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Difícil determinar que distancia a usar es la mejor</a:t>
            </a:r>
            <a:endParaRPr/>
          </a:p>
        </p:txBody>
      </p:sp>
      <p:sp>
        <p:nvSpPr>
          <p:cNvPr id="462" name="Google Shape;462;p41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
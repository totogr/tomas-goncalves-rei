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Raleway"/>
      <p:regular r:id="rId76"/>
      <p:bold r:id="rId77"/>
      <p:italic r:id="rId78"/>
      <p:boldItalic r:id="rId79"/>
    </p:embeddedFont>
    <p:embeddedFont>
      <p:font typeface="Lato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2007DA-53BC-4BCC-BDC2-84FFB6280812}">
  <a:tblStyle styleId="{652007DA-53BC-4BCC-BDC2-84FFB62808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Lato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ato-regular.fntdata"/><Relationship Id="rId82" Type="http://schemas.openxmlformats.org/officeDocument/2006/relationships/font" Target="fonts/Lato-italic.fntdata"/><Relationship Id="rId81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Raleway-bold.fntdata"/><Relationship Id="rId32" Type="http://schemas.openxmlformats.org/officeDocument/2006/relationships/slide" Target="slides/slide26.xml"/><Relationship Id="rId76" Type="http://schemas.openxmlformats.org/officeDocument/2006/relationships/font" Target="fonts/Raleway-regular.fntdata"/><Relationship Id="rId35" Type="http://schemas.openxmlformats.org/officeDocument/2006/relationships/slide" Target="slides/slide29.xml"/><Relationship Id="rId79" Type="http://schemas.openxmlformats.org/officeDocument/2006/relationships/font" Target="fonts/Raleway-boldItalic.fntdata"/><Relationship Id="rId34" Type="http://schemas.openxmlformats.org/officeDocument/2006/relationships/slide" Target="slides/slide28.xml"/><Relationship Id="rId78" Type="http://schemas.openxmlformats.org/officeDocument/2006/relationships/font" Target="fonts/Raleway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d80961e43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d80961e43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d6322db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d6322db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d6322db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d6322db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d6322db2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d6322db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320674d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320674d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d6322db2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d6322db2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1d80961e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1d80961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d80961e4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1d80961e4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d80961e4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d80961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d80961e4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d80961e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320674d9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2320674d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320674d9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2320674d9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1d80961e4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1d80961e4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d80961e4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d80961e4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d80961e4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1d80961e4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d80961e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1d80961e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d80961e4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1d80961e4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1d80961e4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1d80961e4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d80961e4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d80961e4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1d80961e4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1d80961e4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d80961e4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d80961e4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d80961e4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d80961e4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d80961e4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1d80961e4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d80961e4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d80961e4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d80961e4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d80961e4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d80961e4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1d80961e4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d80961e4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d80961e4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d80961e4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d80961e4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d80961e4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d80961e4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d80961e4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d80961e4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1d80961e4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1d80961e4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1d80961e4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1d80961e4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1d80961e4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1d80961e4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320674d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320674d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2320674d9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2320674d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2320674d9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2320674d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2320674d9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2320674d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2320674d9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2320674d9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320674d9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2320674d9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2320674d9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2320674d9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2320674d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2320674d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2320674d9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2320674d9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2320674d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2320674d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2320674d9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2320674d9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320674d9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2320674d9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320674d9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320674d9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2320674d9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2320674d9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2320674d9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2320674d9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2320674d9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2320674d9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1d80961e43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1d80961e4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1d80961e43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1d80961e4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1d80961e4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1d80961e4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1d80961e4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1d80961e4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1d80961e4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1d80961e4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1d80961e4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1d80961e4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d80961e43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1d80961e4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1d80961e4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1d80961e4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1d80961e43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1d80961e43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1d80961e43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1d80961e43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1d80961e4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1d80961e4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1d80961e43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11d80961e43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1d80961e4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1d80961e4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1d80961e4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1d80961e4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1d80961e43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1d80961e43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1d80961e4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1d80961e4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1d80961e4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1d80961e4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d80961e4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d80961e4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1d80961e43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1d80961e43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Relationship Id="rId5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Árboles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9161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Organización de Datos							Dr. Ing. Juan M. Rodríguez</a:t>
            </a:r>
            <a:br>
              <a:rPr lang="en"/>
            </a:br>
            <a:r>
              <a:rPr lang="en"/>
              <a:t>Ciencia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ID3</a:t>
            </a:r>
            <a:r>
              <a:rPr lang="en" sz="2000"/>
              <a:t>: Iterative Dichotomiser 3 (tree -&gt; árbol)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 Creado por: </a:t>
            </a:r>
            <a:r>
              <a:rPr b="1" lang="en" sz="2000"/>
              <a:t>Ross Quinlan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 Genera un árbol de decisión a partir de un conjunto de ejemplos.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3179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Representación de un Árbol de decisión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La salida del algoritmo ID3 se representa como un grafo en forma de árbol, cuyos componentes son:</a:t>
            </a:r>
            <a:endParaRPr sz="180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5125"/>
            <a:ext cx="314766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1820325" y="1234725"/>
            <a:ext cx="6999300" cy="3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 nodo principal llamado raíz en la parte superior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Nodos terminales, como su nombre lo indica, son nodos donde termina el flujo y que ya no son raíz de ningún otro nodo. Estos nodos terminales deben contener una respuesta, o sea, la clasificación a que pertenece el objeto que ha conducido hasta él.</a:t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Los demás nodos representan preguntas con respecto al valor de uno de los atributos.</a:t>
            </a:r>
            <a:br>
              <a:rPr lang="en" sz="1800"/>
            </a:b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Las líneas representan las posibles respuestas que los atributos pueden tomar.</a:t>
            </a:r>
            <a:endParaRPr sz="1800"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50" y="2032000"/>
            <a:ext cx="1340100" cy="12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Entropía</a:t>
            </a:r>
            <a:r>
              <a:rPr lang="en"/>
              <a:t> (de la información)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1308175" y="2081175"/>
            <a:ext cx="7358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La medida del desorden o la medida de la pureza. Básicamente, es la medida de la impureza o aleatoriedad en los datos.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Entropía (de la información)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000" y="2436425"/>
            <a:ext cx="70770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Entropia: </a:t>
            </a:r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800" y="2312250"/>
            <a:ext cx="3761850" cy="90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337275" y="3063625"/>
            <a:ext cx="4799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Dónde: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S: es una lista de valores posibles.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Pi: es la probabilidad de los valores.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i: Cada uno de los valores.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76100" y="1912050"/>
            <a:ext cx="6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Entropía</a:t>
            </a:r>
            <a:r>
              <a:rPr lang="en"/>
              <a:t>: Para calcular la entropía de </a:t>
            </a:r>
            <a:r>
              <a:rPr b="1" lang="en"/>
              <a:t>n</a:t>
            </a:r>
            <a:r>
              <a:rPr lang="en"/>
              <a:t> clases se utiliza la fórmula: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800" y="2312250"/>
            <a:ext cx="3761850" cy="90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337275" y="3063625"/>
            <a:ext cx="7581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Importante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Para una muestra homogénea la entropía es igual a 0</a:t>
            </a:r>
            <a:br>
              <a:rPr lang="en"/>
            </a:b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 máxima entropía viene dada por Log2(n), n son los posibles valores de salida. </a:t>
            </a:r>
            <a:br>
              <a:rPr lang="en"/>
            </a:br>
            <a:r>
              <a:rPr lang="en"/>
              <a:t>Si n =2 (TRUE o FALSE) entonces, la máxima entropía es 1. </a:t>
            </a:r>
            <a:br>
              <a:rPr lang="en"/>
            </a:br>
            <a:r>
              <a:rPr lang="en"/>
              <a:t>O sea es la máxima incertidumbre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Ejemplo 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50" y="1853850"/>
            <a:ext cx="7562695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</a:t>
            </a:r>
            <a:r>
              <a:rPr lang="en"/>
              <a:t>Entropia</a:t>
            </a:r>
            <a:r>
              <a:rPr lang="en"/>
              <a:t>: Ejemplo 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38" y="1811700"/>
            <a:ext cx="7933976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90650" y="1318650"/>
            <a:ext cx="76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Entropia: Otro ejemplo 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200" y="1853850"/>
            <a:ext cx="621843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Ganancia de información: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9450" y="2078875"/>
            <a:ext cx="7688700" cy="26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 ganancia de información se aplica para cuantificar </a:t>
            </a:r>
            <a:r>
              <a:rPr b="1" lang="en" sz="1800"/>
              <a:t>qué característica,</a:t>
            </a:r>
            <a:r>
              <a:rPr lang="en" sz="1800"/>
              <a:t> de un conjunto de datos dados,</a:t>
            </a:r>
            <a:r>
              <a:rPr b="1" lang="en" sz="1800"/>
              <a:t> proporciona la máxima información</a:t>
            </a:r>
            <a:r>
              <a:rPr lang="en" sz="1800"/>
              <a:t> sobre la clasificación.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Si </a:t>
            </a:r>
            <a:r>
              <a:rPr lang="en" sz="1800"/>
              <a:t>tuviésemos</a:t>
            </a:r>
            <a:r>
              <a:rPr lang="en" sz="1800"/>
              <a:t> que elegir una sola </a:t>
            </a:r>
            <a:r>
              <a:rPr lang="en" sz="1800"/>
              <a:t>característica</a:t>
            </a:r>
            <a:r>
              <a:rPr lang="en" sz="1800"/>
              <a:t>, para clasificar. ¿Cuál sería?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Ganancia de información: 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776100" y="1912050"/>
            <a:ext cx="627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Ganancia de información:</a:t>
            </a:r>
            <a:endParaRPr sz="16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900" y="2298525"/>
            <a:ext cx="5478061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288100" y="3414925"/>
            <a:ext cx="5860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Dónde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</a:t>
            </a:r>
            <a:r>
              <a:rPr lang="en"/>
              <a:t>: es una lista de valores posibles para un atributo dado: 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</a:t>
            </a:r>
            <a:r>
              <a:rPr lang="en"/>
              <a:t>: Uno de los atributos, en la lista de ejemplo.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V(A)</a:t>
            </a:r>
            <a:r>
              <a:rPr lang="en"/>
              <a:t> : Conjunto de valores que A puede tomar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Sv/S</a:t>
            </a:r>
            <a:r>
              <a:rPr lang="en"/>
              <a:t> = Probabilidad de un valor, para el atributo 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Entropía (Sv),</a:t>
            </a:r>
            <a:r>
              <a:rPr lang="en"/>
              <a:t> entropía calculada para el valor “v” de 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ID3 - Algoritmo básico: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1. Calcular la </a:t>
            </a:r>
            <a:r>
              <a:rPr b="1" lang="en" sz="1500"/>
              <a:t>entropía</a:t>
            </a:r>
            <a:r>
              <a:rPr lang="en" sz="1500"/>
              <a:t> para todas las clases.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2. Calcular la entropía para cada valor posible de cada atributo.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3. Seleccionar el mejor atributo basado en la reducción de la entropía. Usando el cálculo de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Ganancia de la Información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4. </a:t>
            </a:r>
            <a:r>
              <a:rPr b="1" lang="en" sz="1500"/>
              <a:t>Iterar</a:t>
            </a:r>
            <a:r>
              <a:rPr lang="en" sz="1500"/>
              <a:t>, para cada sub-nodo. Excluyendo el nodo raíz, que ya fue usado.</a:t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00100" y="584925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graphicFrame>
        <p:nvGraphicFramePr>
          <p:cNvPr id="185" name="Google Shape;185;p28"/>
          <p:cNvGraphicFramePr/>
          <p:nvPr/>
        </p:nvGraphicFramePr>
        <p:xfrm>
          <a:off x="1810975" y="14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{652007DA-53BC-4BCC-BDC2-84FFB6280812}</a:tableStyleId>
              </a:tblPr>
              <a:tblGrid>
                <a:gridCol w="1374425"/>
                <a:gridCol w="1374425"/>
                <a:gridCol w="1374425"/>
                <a:gridCol w="1374425"/>
                <a:gridCol w="1374425"/>
              </a:tblGrid>
              <a:tr h="3636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Animal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363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Vuela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Piel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Nacimiento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vMerge="1"/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Paloma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Murcielago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Gallina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Iguana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Cocodrilo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7308675" y="2199000"/>
            <a:ext cx="1422900" cy="2773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1" name="Google Shape;191;p29"/>
          <p:cNvGraphicFramePr/>
          <p:nvPr/>
        </p:nvGraphicFramePr>
        <p:xfrm>
          <a:off x="1810975" y="14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{652007DA-53BC-4BCC-BDC2-84FFB6280812}</a:tableStyleId>
              </a:tblPr>
              <a:tblGrid>
                <a:gridCol w="1374425"/>
                <a:gridCol w="1374425"/>
                <a:gridCol w="1374425"/>
                <a:gridCol w="1374425"/>
                <a:gridCol w="1374425"/>
              </a:tblGrid>
              <a:tr h="3636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Animal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363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Vuela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Piel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Nacimiento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vMerge="1"/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Paloma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Murcielago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Gallina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Iguana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Cocodrilo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29"/>
          <p:cNvSpPr txBox="1"/>
          <p:nvPr/>
        </p:nvSpPr>
        <p:spPr>
          <a:xfrm>
            <a:off x="3552125" y="1006400"/>
            <a:ext cx="509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Probabilidad de cada clase (en el conjunto de entrenamiento)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700100" y="584925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25" y="1900850"/>
            <a:ext cx="85534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25" y="3590600"/>
            <a:ext cx="3255625" cy="7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4254475" y="3734275"/>
            <a:ext cx="14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= </a:t>
            </a:r>
            <a:r>
              <a:rPr b="1" lang="en" sz="2000"/>
              <a:t>1,56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722100" y="606925"/>
            <a:ext cx="7800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 - Atributo Vuela = NO</a:t>
            </a:r>
            <a:endParaRPr/>
          </a:p>
        </p:txBody>
      </p:sp>
      <p:graphicFrame>
        <p:nvGraphicFramePr>
          <p:cNvPr id="207" name="Google Shape;207;p31"/>
          <p:cNvGraphicFramePr/>
          <p:nvPr/>
        </p:nvGraphicFramePr>
        <p:xfrm>
          <a:off x="1810975" y="14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{652007DA-53BC-4BCC-BDC2-84FFB6280812}</a:tableStyleId>
              </a:tblPr>
              <a:tblGrid>
                <a:gridCol w="1374425"/>
                <a:gridCol w="1374425"/>
                <a:gridCol w="1374425"/>
                <a:gridCol w="1374425"/>
                <a:gridCol w="1374425"/>
              </a:tblGrid>
              <a:tr h="3636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Animal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363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Vuela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Piel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Nacimiento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vMerge="1"/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Paloma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Murcielago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Gallina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pluma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Iguana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Cocodrilo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escamas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huevo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Reptil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8" name="Google Shape;208;p31"/>
          <p:cNvSpPr/>
          <p:nvPr/>
        </p:nvSpPr>
        <p:spPr>
          <a:xfrm>
            <a:off x="1811000" y="2991400"/>
            <a:ext cx="6872100" cy="792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7546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5700900" y="1107725"/>
            <a:ext cx="267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5/7 (5 animales no vuelan)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6" name="Google Shape;216;p32"/>
          <p:cNvCxnSpPr>
            <a:endCxn id="215" idx="1"/>
          </p:cNvCxnSpPr>
          <p:nvPr/>
        </p:nvCxnSpPr>
        <p:spPr>
          <a:xfrm flipH="1" rot="10800000">
            <a:off x="5686800" y="1307825"/>
            <a:ext cx="14100" cy="78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/>
          <p:nvPr/>
        </p:nvCxnSpPr>
        <p:spPr>
          <a:xfrm>
            <a:off x="7870550" y="1299450"/>
            <a:ext cx="497400" cy="81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675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350" y="999075"/>
            <a:ext cx="1454425" cy="56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33"/>
          <p:cNvCxnSpPr>
            <a:stCxn id="224" idx="2"/>
          </p:cNvCxnSpPr>
          <p:nvPr/>
        </p:nvCxnSpPr>
        <p:spPr>
          <a:xfrm>
            <a:off x="7245562" y="1567200"/>
            <a:ext cx="71100" cy="761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3"/>
          <p:cNvSpPr/>
          <p:nvPr/>
        </p:nvSpPr>
        <p:spPr>
          <a:xfrm>
            <a:off x="7062600" y="3040950"/>
            <a:ext cx="1827300" cy="3456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325" y="1853850"/>
            <a:ext cx="6404086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/>
          <p:nvPr/>
        </p:nvSpPr>
        <p:spPr>
          <a:xfrm>
            <a:off x="7289075" y="1953225"/>
            <a:ext cx="4644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7308275" y="2902775"/>
            <a:ext cx="4260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7308275" y="3852325"/>
            <a:ext cx="426000" cy="389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963" y="1787525"/>
            <a:ext cx="640408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25" y="2006250"/>
            <a:ext cx="8764499" cy="27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81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75" y="1853850"/>
            <a:ext cx="4050525" cy="7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/>
          <p:nvPr/>
        </p:nvSpPr>
        <p:spPr>
          <a:xfrm>
            <a:off x="3675975" y="729025"/>
            <a:ext cx="825600" cy="6984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1.56</a:t>
            </a:r>
            <a:endParaRPr b="1" sz="1600"/>
          </a:p>
        </p:txBody>
      </p:sp>
      <p:cxnSp>
        <p:nvCxnSpPr>
          <p:cNvPr id="261" name="Google Shape;261;p38"/>
          <p:cNvCxnSpPr>
            <a:stCxn id="260" idx="2"/>
          </p:cNvCxnSpPr>
          <p:nvPr/>
        </p:nvCxnSpPr>
        <p:spPr>
          <a:xfrm flipH="1">
            <a:off x="2610675" y="1078225"/>
            <a:ext cx="1065300" cy="106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38"/>
          <p:cNvSpPr txBox="1"/>
          <p:nvPr/>
        </p:nvSpPr>
        <p:spPr>
          <a:xfrm>
            <a:off x="246950" y="3788825"/>
            <a:ext cx="141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Atributo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vuela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" name="Google Shape;263;p38"/>
          <p:cNvCxnSpPr>
            <a:stCxn id="262" idx="3"/>
          </p:cNvCxnSpPr>
          <p:nvPr/>
        </p:nvCxnSpPr>
        <p:spPr>
          <a:xfrm flipH="1" rot="10800000">
            <a:off x="1665050" y="3506525"/>
            <a:ext cx="564600" cy="4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8"/>
          <p:cNvCxnSpPr>
            <a:stCxn id="262" idx="3"/>
          </p:cNvCxnSpPr>
          <p:nvPr/>
        </p:nvCxnSpPr>
        <p:spPr>
          <a:xfrm>
            <a:off x="1665050" y="3988925"/>
            <a:ext cx="494100" cy="4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8"/>
          <p:cNvSpPr txBox="1"/>
          <p:nvPr/>
        </p:nvSpPr>
        <p:spPr>
          <a:xfrm>
            <a:off x="2229650" y="3302000"/>
            <a:ext cx="3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Sí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2173100" y="4256950"/>
            <a:ext cx="49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3471325" y="1905000"/>
            <a:ext cx="381000" cy="698400"/>
          </a:xfrm>
          <a:prstGeom prst="ellipse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8"/>
          <p:cNvCxnSpPr>
            <a:stCxn id="267" idx="4"/>
            <a:endCxn id="269" idx="0"/>
          </p:cNvCxnSpPr>
          <p:nvPr/>
        </p:nvCxnSpPr>
        <p:spPr>
          <a:xfrm flipH="1">
            <a:off x="2895925" y="2603400"/>
            <a:ext cx="765900" cy="698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8"/>
          <p:cNvCxnSpPr>
            <a:stCxn id="267" idx="5"/>
            <a:endCxn id="271" idx="0"/>
          </p:cNvCxnSpPr>
          <p:nvPr/>
        </p:nvCxnSpPr>
        <p:spPr>
          <a:xfrm flipH="1">
            <a:off x="2951129" y="2501122"/>
            <a:ext cx="845400" cy="175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38"/>
          <p:cNvSpPr txBox="1"/>
          <p:nvPr/>
        </p:nvSpPr>
        <p:spPr>
          <a:xfrm>
            <a:off x="2568225" y="425695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p=0.71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2518000" y="330200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p=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0.29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3852325" y="2024950"/>
            <a:ext cx="10230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"/>
          <p:cNvSpPr txBox="1"/>
          <p:nvPr/>
        </p:nvSpPr>
        <p:spPr>
          <a:xfrm>
            <a:off x="3361975" y="425695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E=1.52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3361975" y="3302000"/>
            <a:ext cx="7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E=1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5" name="Google Shape;275;p38"/>
          <p:cNvCxnSpPr>
            <a:stCxn id="272" idx="2"/>
            <a:endCxn id="274" idx="0"/>
          </p:cNvCxnSpPr>
          <p:nvPr/>
        </p:nvCxnSpPr>
        <p:spPr>
          <a:xfrm flipH="1">
            <a:off x="3744925" y="2425150"/>
            <a:ext cx="618900" cy="87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38"/>
          <p:cNvCxnSpPr>
            <a:stCxn id="272" idx="2"/>
            <a:endCxn id="273" idx="3"/>
          </p:cNvCxnSpPr>
          <p:nvPr/>
        </p:nvCxnSpPr>
        <p:spPr>
          <a:xfrm flipH="1">
            <a:off x="4128025" y="2425150"/>
            <a:ext cx="235800" cy="2031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8"/>
          <p:cNvSpPr txBox="1"/>
          <p:nvPr/>
        </p:nvSpPr>
        <p:spPr>
          <a:xfrm>
            <a:off x="4953000" y="2024950"/>
            <a:ext cx="3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= 1.56 - (0.29*1 + 0.71 * 1.52) = 0.1908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graphicFrame>
        <p:nvGraphicFramePr>
          <p:cNvPr id="283" name="Google Shape;283;p39"/>
          <p:cNvGraphicFramePr/>
          <p:nvPr/>
        </p:nvGraphicFramePr>
        <p:xfrm>
          <a:off x="952500" y="243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{652007DA-53BC-4BCC-BDC2-84FFB6280812}</a:tableStyleId>
              </a:tblPr>
              <a:tblGrid>
                <a:gridCol w="3993450"/>
                <a:gridCol w="3245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Ganancia de información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Vuela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Piel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Nacimiento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4" name="Google Shape;284;p39"/>
          <p:cNvSpPr txBox="1"/>
          <p:nvPr/>
        </p:nvSpPr>
        <p:spPr>
          <a:xfrm>
            <a:off x="945400" y="3224400"/>
            <a:ext cx="72390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290" name="Google Shape;2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675" y="1923325"/>
            <a:ext cx="5881049" cy="287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type="title"/>
          </p:nvPr>
        </p:nvSpPr>
        <p:spPr>
          <a:xfrm>
            <a:off x="722100" y="62160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graphicFrame>
        <p:nvGraphicFramePr>
          <p:cNvPr id="296" name="Google Shape;296;p41"/>
          <p:cNvGraphicFramePr/>
          <p:nvPr/>
        </p:nvGraphicFramePr>
        <p:xfrm>
          <a:off x="805888" y="137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{652007DA-53BC-4BCC-BDC2-84FFB6280812}</a:tableStyleId>
              </a:tblPr>
              <a:tblGrid>
                <a:gridCol w="1374425"/>
                <a:gridCol w="1374425"/>
                <a:gridCol w="1374425"/>
                <a:gridCol w="1374425"/>
                <a:gridCol w="1374425"/>
              </a:tblGrid>
              <a:tr h="3636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Animal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ATRIBUTO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Clase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</a:tr>
              <a:tr h="363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Vuela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Piel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Nacimiento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FFE599"/>
                    </a:solidFill>
                  </a:tcPr>
                </a:tc>
                <a:tc vMerge="1"/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Vaca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Cerdo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Paloma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sí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pluma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huevo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Ave</a:t>
                      </a:r>
                      <a:endParaRPr strike="sngStrike"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Murcielago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sí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pelo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útero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Mamífero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Gallina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no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pluma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huevo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Ave</a:t>
                      </a:r>
                      <a:endParaRPr strike="sngStrike"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Iguana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no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escamas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huevo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Reptil</a:t>
                      </a:r>
                      <a:endParaRPr strike="sngStrike"/>
                    </a:p>
                  </a:txBody>
                  <a:tcPr marT="91425" marB="91425" marR="91425" marL="91425"/>
                </a:tc>
              </a:tr>
              <a:tr h="36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Cocodrilo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no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escamas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huevo</a:t>
                      </a:r>
                      <a:endParaRPr strike="sng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/>
                        <a:t>Reptil</a:t>
                      </a:r>
                      <a:endParaRPr strike="sng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2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02" name="Google Shape;3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11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13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14" name="Google Shape;3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73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type="title"/>
          </p:nvPr>
        </p:nvSpPr>
        <p:spPr>
          <a:xfrm>
            <a:off x="729450" y="1318650"/>
            <a:ext cx="222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Ejemplo</a:t>
            </a:r>
            <a:endParaRPr/>
          </a:p>
        </p:txBody>
      </p:sp>
      <p:pic>
        <p:nvPicPr>
          <p:cNvPr id="320" name="Google Shape;32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450" y="1937450"/>
            <a:ext cx="49911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 txBox="1"/>
          <p:nvPr>
            <p:ph type="title"/>
          </p:nvPr>
        </p:nvSpPr>
        <p:spPr>
          <a:xfrm>
            <a:off x="729450" y="1318650"/>
            <a:ext cx="5225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ID3: Recapitulando</a:t>
            </a:r>
            <a:endParaRPr/>
          </a:p>
        </p:txBody>
      </p:sp>
      <p:sp>
        <p:nvSpPr>
          <p:cNvPr id="326" name="Google Shape;326;p46"/>
          <p:cNvSpPr txBox="1"/>
          <p:nvPr/>
        </p:nvSpPr>
        <p:spPr>
          <a:xfrm>
            <a:off x="729450" y="1890900"/>
            <a:ext cx="78147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 nodo de decisión está asociado a uno de los atributos y tiene 2 o más ramas que salen de él, cada una de ellas representando los posibles valores que puede tomar el atributo asociado.</a:t>
            </a:r>
            <a:br>
              <a:rPr lang="en" sz="1700"/>
            </a:b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 nodo-respuesta está asociado a la clasificación que se quiere proporcionar,y nos devuelve la decisión del árbol con respecto al ejemplo de entrada.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</p:txBody>
      </p:sp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729450" y="2078875"/>
            <a:ext cx="7688700" cy="9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</a:t>
            </a:r>
            <a:r>
              <a:rPr lang="en" sz="1600"/>
              <a:t>a impureza de Gini es una medida de cuán a menudo un elemento elegido aleatoriamente del conjunto sería etiquetado incorrectamente si fue etiquetado de manera aleatoria de acuerdo a la distribución de las etiquetas en el subconjunto</a:t>
            </a:r>
            <a:endParaRPr sz="1600"/>
          </a:p>
        </p:txBody>
      </p:sp>
      <p:sp>
        <p:nvSpPr>
          <p:cNvPr id="338" name="Google Shape;338;p48"/>
          <p:cNvSpPr txBox="1"/>
          <p:nvPr/>
        </p:nvSpPr>
        <p:spPr>
          <a:xfrm>
            <a:off x="729475" y="3204150"/>
            <a:ext cx="768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Algunas implementaciones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árboles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decisión utilizan la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impureza de Gini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en lugar de la ganancia de información, ya que es más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fácil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calcular 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computacionalmente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menos costosa)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Ejemplo: Scikit-learn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9" name="Google Shape;3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538" y="4035450"/>
            <a:ext cx="2654913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9"/>
          <p:cNvSpPr txBox="1"/>
          <p:nvPr>
            <p:ph idx="1" type="body"/>
          </p:nvPr>
        </p:nvSpPr>
        <p:spPr>
          <a:xfrm>
            <a:off x="3922900" y="703050"/>
            <a:ext cx="5136300" cy="12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¿Cúal debería ser el mejor atributo para el nodo </a:t>
            </a:r>
            <a:r>
              <a:rPr lang="en"/>
              <a:t>raíz</a:t>
            </a:r>
            <a:r>
              <a:rPr lang="en"/>
              <a:t>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Chest Pain (dolor de pecho)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Good Blood Circulation (buena </a:t>
            </a:r>
            <a:r>
              <a:rPr lang="en"/>
              <a:t>circulación</a:t>
            </a:r>
            <a:r>
              <a:rPr lang="en"/>
              <a:t> </a:t>
            </a:r>
            <a:r>
              <a:rPr lang="en"/>
              <a:t>sanguínea</a:t>
            </a:r>
            <a:r>
              <a:rPr lang="en"/>
              <a:t>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Blocked Arteries (arterias bloqueadas)</a:t>
            </a:r>
            <a:endParaRPr/>
          </a:p>
        </p:txBody>
      </p:sp>
      <p:pic>
        <p:nvPicPr>
          <p:cNvPr id="346" name="Google Shape;3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350" y="1982550"/>
            <a:ext cx="2786826" cy="201775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9"/>
          <p:cNvSpPr/>
          <p:nvPr/>
        </p:nvSpPr>
        <p:spPr>
          <a:xfrm>
            <a:off x="402175" y="2405950"/>
            <a:ext cx="3209400" cy="56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9" name="Google Shape;349;p49"/>
          <p:cNvCxnSpPr>
            <a:stCxn id="348" idx="3"/>
          </p:cNvCxnSpPr>
          <p:nvPr/>
        </p:nvCxnSpPr>
        <p:spPr>
          <a:xfrm>
            <a:off x="3611575" y="2688250"/>
            <a:ext cx="4022400" cy="1234800"/>
          </a:xfrm>
          <a:prstGeom prst="curvedConnector3">
            <a:avLst>
              <a:gd fmla="val 34401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0" name="Google Shape;350;p49"/>
          <p:cNvSpPr/>
          <p:nvPr/>
        </p:nvSpPr>
        <p:spPr>
          <a:xfrm>
            <a:off x="7633975" y="3555875"/>
            <a:ext cx="5646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9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256" y="1932900"/>
            <a:ext cx="2730344" cy="20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0"/>
          <p:cNvSpPr/>
          <p:nvPr/>
        </p:nvSpPr>
        <p:spPr>
          <a:xfrm>
            <a:off x="413413" y="2991275"/>
            <a:ext cx="3209400" cy="56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50"/>
          <p:cNvCxnSpPr>
            <a:stCxn id="359" idx="3"/>
            <a:endCxn id="361" idx="2"/>
          </p:cNvCxnSpPr>
          <p:nvPr/>
        </p:nvCxnSpPr>
        <p:spPr>
          <a:xfrm>
            <a:off x="3622813" y="3273575"/>
            <a:ext cx="1979400" cy="564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" name="Google Shape;361;p50"/>
          <p:cNvSpPr/>
          <p:nvPr/>
        </p:nvSpPr>
        <p:spPr>
          <a:xfrm>
            <a:off x="5602250" y="3555875"/>
            <a:ext cx="5646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2228" y="1957675"/>
            <a:ext cx="2740621" cy="198294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1"/>
          <p:cNvSpPr/>
          <p:nvPr/>
        </p:nvSpPr>
        <p:spPr>
          <a:xfrm>
            <a:off x="486825" y="19685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278" y="624175"/>
            <a:ext cx="2740621" cy="198294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2"/>
          <p:cNvSpPr/>
          <p:nvPr/>
        </p:nvSpPr>
        <p:spPr>
          <a:xfrm>
            <a:off x="1262925" y="1957675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275" y="2696025"/>
            <a:ext cx="2740625" cy="2016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75" y="1853850"/>
            <a:ext cx="3209275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425" y="719790"/>
            <a:ext cx="2608474" cy="188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3"/>
          <p:cNvSpPr/>
          <p:nvPr/>
        </p:nvSpPr>
        <p:spPr>
          <a:xfrm>
            <a:off x="2067250" y="1995300"/>
            <a:ext cx="705600" cy="2843400"/>
          </a:xfrm>
          <a:prstGeom prst="rect">
            <a:avLst/>
          </a:prstGeom>
          <a:solidFill>
            <a:srgbClr val="EADEAC">
              <a:alpha val="25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425" y="2890486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5362" y="2949225"/>
            <a:ext cx="2476301" cy="17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4"/>
          <p:cNvSpPr txBox="1"/>
          <p:nvPr/>
        </p:nvSpPr>
        <p:spPr>
          <a:xfrm>
            <a:off x="360500" y="1425225"/>
            <a:ext cx="447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también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clasifica cada uno de estos árboles?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360500" y="1894175"/>
            <a:ext cx="40641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True, tiene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“Yes”, y “False”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“No”. Pero no clasifica correctamente al 100% de los casos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0" name="Google Shape;400;p54"/>
          <p:cNvCxnSpPr>
            <a:stCxn id="399" idx="3"/>
            <a:endCxn id="395" idx="1"/>
          </p:cNvCxnSpPr>
          <p:nvPr/>
        </p:nvCxnSpPr>
        <p:spPr>
          <a:xfrm flipH="1" rot="10800000">
            <a:off x="4424600" y="1577825"/>
            <a:ext cx="1980000" cy="7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1" name="Google Shape;401;p54"/>
          <p:cNvSpPr txBox="1"/>
          <p:nvPr/>
        </p:nvSpPr>
        <p:spPr>
          <a:xfrm>
            <a:off x="3111525" y="3506625"/>
            <a:ext cx="21096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árboles tampoco clasifican correctamente al 100% de los casos.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¿Cúal es mejor?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2" name="Google Shape;402;p54"/>
          <p:cNvCxnSpPr>
            <a:endCxn id="396" idx="1"/>
          </p:cNvCxnSpPr>
          <p:nvPr/>
        </p:nvCxnSpPr>
        <p:spPr>
          <a:xfrm>
            <a:off x="5220975" y="4029855"/>
            <a:ext cx="3960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54"/>
          <p:cNvCxnSpPr>
            <a:stCxn id="401" idx="1"/>
            <a:endCxn id="397" idx="3"/>
          </p:cNvCxnSpPr>
          <p:nvPr/>
        </p:nvCxnSpPr>
        <p:spPr>
          <a:xfrm flipH="1">
            <a:off x="2629725" y="4029975"/>
            <a:ext cx="4818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55"/>
          <p:cNvCxnSpPr>
            <a:stCxn id="413" idx="0"/>
          </p:cNvCxnSpPr>
          <p:nvPr/>
        </p:nvCxnSpPr>
        <p:spPr>
          <a:xfrm flipH="1" rot="10800000">
            <a:off x="4166325" y="2205825"/>
            <a:ext cx="2210100" cy="13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3" name="Google Shape;413;p55"/>
          <p:cNvSpPr txBox="1"/>
          <p:nvPr/>
        </p:nvSpPr>
        <p:spPr>
          <a:xfrm>
            <a:off x="3111525" y="3506625"/>
            <a:ext cx="2109600" cy="10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total no siempre coincide, ya que para valores faltantes (nulos), se omite el registro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4" name="Google Shape;414;p55"/>
          <p:cNvCxnSpPr>
            <a:endCxn id="410" idx="1"/>
          </p:cNvCxnSpPr>
          <p:nvPr/>
        </p:nvCxnSpPr>
        <p:spPr>
          <a:xfrm>
            <a:off x="5220975" y="4029855"/>
            <a:ext cx="3960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55"/>
          <p:cNvCxnSpPr>
            <a:stCxn id="413" idx="1"/>
            <a:endCxn id="411" idx="3"/>
          </p:cNvCxnSpPr>
          <p:nvPr/>
        </p:nvCxnSpPr>
        <p:spPr>
          <a:xfrm flipH="1">
            <a:off x="2629725" y="4029975"/>
            <a:ext cx="481800" cy="1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6" name="Google Shape;416;p55"/>
          <p:cNvSpPr/>
          <p:nvPr/>
        </p:nvSpPr>
        <p:spPr>
          <a:xfrm>
            <a:off x="217888" y="4811275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5"/>
          <p:cNvSpPr/>
          <p:nvPr/>
        </p:nvSpPr>
        <p:spPr>
          <a:xfrm>
            <a:off x="6572113" y="2275500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5"/>
          <p:cNvSpPr/>
          <p:nvPr/>
        </p:nvSpPr>
        <p:spPr>
          <a:xfrm>
            <a:off x="5681375" y="4763300"/>
            <a:ext cx="2347500" cy="204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5"/>
          <p:cNvSpPr txBox="1"/>
          <p:nvPr/>
        </p:nvSpPr>
        <p:spPr>
          <a:xfrm>
            <a:off x="451550" y="1559275"/>
            <a:ext cx="47130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ninguno de los nodos hoja es 100%: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Yes Heart Disease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” o bien 100%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No Heart Diseas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e”. Ninguno es puro, es decir que son nodos: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impuros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4650" y="634240"/>
            <a:ext cx="2608474" cy="188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75" y="3223261"/>
            <a:ext cx="2476325" cy="1821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87" y="3252625"/>
            <a:ext cx="2476301" cy="17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6"/>
          <p:cNvSpPr txBox="1"/>
          <p:nvPr/>
        </p:nvSpPr>
        <p:spPr>
          <a:xfrm>
            <a:off x="451550" y="1559275"/>
            <a:ext cx="47130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Como ninguno de los nodos hoja es 100%: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Yes Heart Disease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” o bien 100% “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No Heart Diseas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e”. Ninguno es puro, es decir que son nodos: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impuros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9" name="Google Shape;429;p56"/>
          <p:cNvSpPr txBox="1"/>
          <p:nvPr/>
        </p:nvSpPr>
        <p:spPr>
          <a:xfrm>
            <a:off x="2420050" y="2681100"/>
            <a:ext cx="349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saber cual clasifica mejor, tenemos que medir la impureza de cada nodo y de cada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árbol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Hay varias formas de medir esto, una muy popular es llamada: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Gini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7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5" name="Google Shape;43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8900"/>
            <a:ext cx="8839202" cy="2666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8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00" y="1314475"/>
            <a:ext cx="7274274" cy="354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8"/>
          <p:cNvSpPr/>
          <p:nvPr/>
        </p:nvSpPr>
        <p:spPr>
          <a:xfrm>
            <a:off x="4480275" y="2032000"/>
            <a:ext cx="663300" cy="539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" name="Google Shape;443;p58"/>
          <p:cNvCxnSpPr>
            <a:stCxn id="442" idx="4"/>
          </p:cNvCxnSpPr>
          <p:nvPr/>
        </p:nvCxnSpPr>
        <p:spPr>
          <a:xfrm flipH="1">
            <a:off x="4226325" y="2571700"/>
            <a:ext cx="585600" cy="1238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58"/>
          <p:cNvSpPr/>
          <p:nvPr/>
        </p:nvSpPr>
        <p:spPr>
          <a:xfrm>
            <a:off x="4395600" y="2307175"/>
            <a:ext cx="1488600" cy="264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5" name="Google Shape;445;p58"/>
          <p:cNvCxnSpPr>
            <a:stCxn id="444" idx="2"/>
            <a:endCxn id="446" idx="0"/>
          </p:cNvCxnSpPr>
          <p:nvPr/>
        </p:nvCxnSpPr>
        <p:spPr>
          <a:xfrm flipH="1">
            <a:off x="4169700" y="2571775"/>
            <a:ext cx="970200" cy="1516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58"/>
          <p:cNvSpPr/>
          <p:nvPr/>
        </p:nvSpPr>
        <p:spPr>
          <a:xfrm>
            <a:off x="3718300" y="4088700"/>
            <a:ext cx="903000" cy="264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8"/>
          <p:cNvSpPr/>
          <p:nvPr/>
        </p:nvSpPr>
        <p:spPr>
          <a:xfrm>
            <a:off x="5143575" y="2078575"/>
            <a:ext cx="663300" cy="5397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58"/>
          <p:cNvCxnSpPr>
            <a:stCxn id="447" idx="4"/>
          </p:cNvCxnSpPr>
          <p:nvPr/>
        </p:nvCxnSpPr>
        <p:spPr>
          <a:xfrm flipH="1">
            <a:off x="5352525" y="2618275"/>
            <a:ext cx="122700" cy="1238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450" y="1307725"/>
            <a:ext cx="7434218" cy="366924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9"/>
          <p:cNvSpPr/>
          <p:nvPr/>
        </p:nvSpPr>
        <p:spPr>
          <a:xfrm>
            <a:off x="6561675" y="1404050"/>
            <a:ext cx="2031900" cy="15099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6" name="Google Shape;456;p59"/>
          <p:cNvCxnSpPr>
            <a:stCxn id="455" idx="4"/>
          </p:cNvCxnSpPr>
          <p:nvPr/>
        </p:nvCxnSpPr>
        <p:spPr>
          <a:xfrm flipH="1">
            <a:off x="4508625" y="2913950"/>
            <a:ext cx="3069000" cy="1848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0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275" y="1169450"/>
            <a:ext cx="4414300" cy="175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0"/>
          <p:cNvSpPr txBox="1"/>
          <p:nvPr/>
        </p:nvSpPr>
        <p:spPr>
          <a:xfrm>
            <a:off x="512875" y="1531150"/>
            <a:ext cx="428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que tenemos la impureza de Gini para cada nodo hoja, podemos calcular la impureza de Gini total, para el nodo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raíz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“Chest Pain”.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trata de el promedio ponderado.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5500275" y="2244700"/>
            <a:ext cx="1442100" cy="237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0"/>
          <p:cNvSpPr/>
          <p:nvPr/>
        </p:nvSpPr>
        <p:spPr>
          <a:xfrm>
            <a:off x="7512575" y="2244700"/>
            <a:ext cx="1442100" cy="237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0"/>
          <p:cNvSpPr txBox="1"/>
          <p:nvPr/>
        </p:nvSpPr>
        <p:spPr>
          <a:xfrm>
            <a:off x="3805600" y="2281875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144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60"/>
          <p:cNvCxnSpPr>
            <a:stCxn id="464" idx="1"/>
            <a:endCxn id="466" idx="3"/>
          </p:cNvCxnSpPr>
          <p:nvPr/>
        </p:nvCxnSpPr>
        <p:spPr>
          <a:xfrm flipH="1">
            <a:off x="4377975" y="2363500"/>
            <a:ext cx="1122300" cy="1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60"/>
          <p:cNvSpPr txBox="1"/>
          <p:nvPr/>
        </p:nvSpPr>
        <p:spPr>
          <a:xfrm>
            <a:off x="6942375" y="2682075"/>
            <a:ext cx="51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159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9" name="Google Shape;469;p60"/>
          <p:cNvCxnSpPr>
            <a:stCxn id="465" idx="1"/>
            <a:endCxn id="468" idx="0"/>
          </p:cNvCxnSpPr>
          <p:nvPr/>
        </p:nvCxnSpPr>
        <p:spPr>
          <a:xfrm flipH="1">
            <a:off x="7198775" y="2363500"/>
            <a:ext cx="313800" cy="31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351" y="1318650"/>
            <a:ext cx="7295798" cy="377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61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>
            <p:ph type="title"/>
          </p:nvPr>
        </p:nvSpPr>
        <p:spPr>
          <a:xfrm>
            <a:off x="722400" y="634250"/>
            <a:ext cx="2770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Impureza de Gini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725" y="1344150"/>
            <a:ext cx="6203186" cy="36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2"/>
          <p:cNvSpPr/>
          <p:nvPr/>
        </p:nvSpPr>
        <p:spPr>
          <a:xfrm>
            <a:off x="3679250" y="3151500"/>
            <a:ext cx="698700" cy="6318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2"/>
          <p:cNvSpPr txBox="1"/>
          <p:nvPr/>
        </p:nvSpPr>
        <p:spPr>
          <a:xfrm>
            <a:off x="230425" y="2348775"/>
            <a:ext cx="2486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“Good blood circulation” tiene la menor impureza, utilizamos este atributo para el nodo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raíz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procedemos de igual forma que en el caso de la ganancias de información pero calculando la impureza de Gini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endParaRPr/>
          </a:p>
        </p:txBody>
      </p:sp>
      <p:sp>
        <p:nvSpPr>
          <p:cNvPr id="494" name="Google Shape;494;p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Se hicieron mejoras a ID3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Campos numéricos, rangos </a:t>
            </a:r>
            <a:r>
              <a:rPr lang="en" sz="1800"/>
              <a:t>continuous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Datos faltantes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Poda</a:t>
            </a:r>
            <a:endParaRPr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Datos faltantes</a:t>
            </a:r>
            <a:endParaRPr sz="1933"/>
          </a:p>
        </p:txBody>
      </p:sp>
      <p:sp>
        <p:nvSpPr>
          <p:cNvPr id="500" name="Google Shape;500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Datos faltantes: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Manejo de los datos de formación con valores de atributos faltantes - C4.5 permite valores 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los atributos para ser marcado como “?” para faltantes. Los valores faltantes de los atributos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simplemente no se usan en los cálculos de la ganancia y la entropía.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</a:t>
            </a:r>
            <a:r>
              <a:rPr lang="en"/>
              <a:t>: </a:t>
            </a:r>
            <a:r>
              <a:rPr lang="en" sz="1933"/>
              <a:t>Campos numéricos, o rangos continuous</a:t>
            </a:r>
            <a:endParaRPr sz="19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225"/>
              <a:t>Campos numéricos, o rangos </a:t>
            </a:r>
            <a:r>
              <a:rPr b="1" lang="en" sz="1225"/>
              <a:t>continuous</a:t>
            </a:r>
            <a:r>
              <a:rPr b="1" lang="en" sz="1225"/>
              <a:t>: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Si un atributo A, tiene un rango continuo de valores. El algoritmo puede, dinámicamente crear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un campo </a:t>
            </a:r>
            <a:r>
              <a:rPr b="1" lang="en" sz="1225"/>
              <a:t>Booleano</a:t>
            </a:r>
            <a:r>
              <a:rPr lang="en" sz="1225"/>
              <a:t> tal que si A &lt; C </a:t>
            </a:r>
            <a:r>
              <a:rPr b="1" lang="en" sz="1225"/>
              <a:t>Ac = TRUE</a:t>
            </a:r>
            <a:r>
              <a:rPr lang="en" sz="1225"/>
              <a:t>, sino </a:t>
            </a:r>
            <a:r>
              <a:rPr b="1" lang="en" sz="1225"/>
              <a:t>Ac = FALSE.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25"/>
              <a:t>¿Cómo encontrar ese umbral C?</a:t>
            </a:r>
            <a:endParaRPr b="1"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225"/>
              <a:t>Vamos a cortar el rango de forma que </a:t>
            </a:r>
            <a:r>
              <a:rPr b="1" lang="en" sz="1225"/>
              <a:t>C</a:t>
            </a:r>
            <a:r>
              <a:rPr lang="en" sz="1225"/>
              <a:t> nos quede con la mayor ganancia de información.</a:t>
            </a:r>
            <a:endParaRPr sz="1225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Campos numéricos, o rangos </a:t>
            </a:r>
            <a:r>
              <a:rPr lang="en" sz="1933"/>
              <a:t>continuous</a:t>
            </a:r>
            <a:endParaRPr sz="1933"/>
          </a:p>
        </p:txBody>
      </p:sp>
      <p:sp>
        <p:nvSpPr>
          <p:cNvPr id="512" name="Google Shape;512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Ordenamos</a:t>
            </a:r>
            <a:r>
              <a:rPr b="1" lang="en" sz="1225"/>
              <a:t> A</a:t>
            </a:r>
            <a:r>
              <a:rPr lang="en" sz="1225"/>
              <a:t> de menor a mayor, por ejemplo.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Identificamos los valores adyacentes (de la clase que es nuestra salida)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Detectamos cuando hay un cambio de valor de salida, entonces en esos límites seguramente están nuestros </a:t>
            </a:r>
            <a:r>
              <a:rPr b="1" lang="en" sz="1225"/>
              <a:t>C</a:t>
            </a:r>
            <a:r>
              <a:rPr lang="en" sz="1225"/>
              <a:t>i candidatos. 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Creamos varios </a:t>
            </a:r>
            <a:r>
              <a:rPr b="1" lang="en" sz="1225"/>
              <a:t>Ci</a:t>
            </a:r>
            <a:r>
              <a:rPr lang="en" sz="1225"/>
              <a:t>, que dividen en dos el rango. Para cada uno de estos rangos calculamos la ganancia de información. Nos quedamos con el que nos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225"/>
              <a:t>da el mejor resultado. (Se puede también quedarse con los N mejor.)</a:t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Poda</a:t>
            </a:r>
            <a:endParaRPr sz="1933"/>
          </a:p>
        </p:txBody>
      </p:sp>
      <p:sp>
        <p:nvSpPr>
          <p:cNvPr id="518" name="Google Shape;518;p68"/>
          <p:cNvSpPr txBox="1"/>
          <p:nvPr>
            <p:ph idx="1" type="body"/>
          </p:nvPr>
        </p:nvSpPr>
        <p:spPr>
          <a:xfrm>
            <a:off x="729450" y="2078875"/>
            <a:ext cx="7688700" cy="26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/>
              <a:t>El método de poda del árbol consiste en:</a:t>
            </a:r>
            <a:endParaRPr b="1" sz="1525"/>
          </a:p>
          <a:p>
            <a:pPr indent="-32543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 generar el árbol tal y como hemos visto</a:t>
            </a:r>
            <a:br>
              <a:rPr lang="en" sz="1525"/>
            </a:br>
            <a:endParaRPr sz="1525"/>
          </a:p>
          <a:p>
            <a:pPr indent="-3254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A continuación, analizar recursivamente, y desde las hojas, qué preguntas (nodos interiores) se pueden eliminar sin que se incremente el error de clasificación con el conjunto de test.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25"/>
              <a:t>(Si hay ruido el árbol tendrá un error, es decir cantidad de casos mal clasificados)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25"/>
              <a:t>Error</a:t>
            </a:r>
            <a:r>
              <a:rPr lang="en" sz="1525"/>
              <a:t>= Casos bien clasificados / Casos Totales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  <p:pic>
        <p:nvPicPr>
          <p:cNvPr id="519" name="Google Shape;51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986425" y="647000"/>
            <a:ext cx="1924750" cy="19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C4.5: </a:t>
            </a:r>
            <a:r>
              <a:rPr lang="en" sz="1933"/>
              <a:t>Poda</a:t>
            </a:r>
            <a:endParaRPr sz="1933"/>
          </a:p>
        </p:txBody>
      </p:sp>
      <p:sp>
        <p:nvSpPr>
          <p:cNvPr id="525" name="Google Shape;525;p69"/>
          <p:cNvSpPr txBox="1"/>
          <p:nvPr>
            <p:ph idx="1" type="body"/>
          </p:nvPr>
        </p:nvSpPr>
        <p:spPr>
          <a:xfrm>
            <a:off x="729450" y="2078875"/>
            <a:ext cx="7688700" cy="26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25"/>
              <a:t>El método de poda del árbol consiste en:</a:t>
            </a:r>
            <a:endParaRPr b="1" sz="1525"/>
          </a:p>
          <a:p>
            <a:pPr indent="-32543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elimina un nodo interior cuyos sucesores son todos nodos hoja.</a:t>
            </a:r>
            <a:br>
              <a:rPr lang="en" sz="1525"/>
            </a:br>
            <a:endParaRPr sz="1525"/>
          </a:p>
          <a:p>
            <a:pPr indent="-3254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vuelve a calcular el error que se comete con este nuevo árbol sobre el conjunto de test.</a:t>
            </a:r>
            <a:br>
              <a:rPr lang="en" sz="1525"/>
            </a:br>
            <a:endParaRPr sz="1525"/>
          </a:p>
          <a:p>
            <a:pPr indent="-3254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Si este error es menor que el error anterior, entonces se elimina el nodo y todos sus sucesores(hojas)</a:t>
            </a:r>
            <a:br>
              <a:rPr lang="en" sz="1525"/>
            </a:br>
            <a:endParaRPr sz="1525"/>
          </a:p>
          <a:p>
            <a:pPr indent="-3254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25"/>
              <a:buChar char="●"/>
            </a:pPr>
            <a:r>
              <a:rPr lang="en" sz="1525"/>
              <a:t>Se repite.</a:t>
            </a:r>
            <a:endParaRPr sz="15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25"/>
          </a:p>
        </p:txBody>
      </p:sp>
      <p:pic>
        <p:nvPicPr>
          <p:cNvPr id="526" name="Google Shape;52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6986425" y="647000"/>
            <a:ext cx="1924750" cy="19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537" name="Google Shape;537;p7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“Muchos estimadores mediocres, promediados pueden ser muy buenos”</a:t>
            </a:r>
            <a:endParaRPr sz="25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43" name="Google Shape;543;p7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Es una técnica, o meta-algoritmo que dice lo siguiente: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Dado un conjunto de entrenamiento D, de tamaño n, la técnica de </a:t>
            </a:r>
            <a:r>
              <a:rPr b="1" i="1" lang="en" sz="2500"/>
              <a:t>bagging</a:t>
            </a:r>
            <a:r>
              <a:rPr lang="en" sz="2500"/>
              <a:t> generará </a:t>
            </a:r>
            <a:r>
              <a:rPr b="1" lang="en" sz="2500"/>
              <a:t>m</a:t>
            </a:r>
            <a:r>
              <a:rPr lang="en" sz="2500"/>
              <a:t> nuevos conjuntos de entrenamiento D1,... Di,..., Dm cada uno de tamaño </a:t>
            </a:r>
            <a:r>
              <a:rPr b="1" lang="en" sz="2500"/>
              <a:t>n'</a:t>
            </a:r>
            <a:r>
              <a:rPr lang="en" sz="2500"/>
              <a:t> tomando muestras aleatorias de D.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Y  en general </a:t>
            </a:r>
            <a:r>
              <a:rPr b="1" lang="en" sz="2500"/>
              <a:t>n'&lt;n</a:t>
            </a:r>
            <a:r>
              <a:rPr lang="en" sz="2500"/>
              <a:t>. Siendo </a:t>
            </a:r>
            <a:r>
              <a:rPr b="1" lang="en" sz="2500"/>
              <a:t>n'</a:t>
            </a:r>
            <a:r>
              <a:rPr lang="en" sz="2500"/>
              <a:t> aproximadamente un </a:t>
            </a:r>
            <a:r>
              <a:rPr b="1" lang="en" sz="2500"/>
              <a:t>2⁄3</a:t>
            </a:r>
            <a:r>
              <a:rPr lang="en" sz="2500"/>
              <a:t> de n.</a:t>
            </a:r>
            <a:endParaRPr sz="2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49" name="Google Shape;549;p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Suponiendo que tenemos un conjunto de datos, como el que sigue: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8 Atributos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1 Clase que queremos saber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 9000 registros</a:t>
            </a:r>
            <a:endParaRPr sz="2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pic>
        <p:nvPicPr>
          <p:cNvPr id="555" name="Google Shape;55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225" y="1853850"/>
            <a:ext cx="4383431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74"/>
          <p:cNvSpPr/>
          <p:nvPr/>
        </p:nvSpPr>
        <p:spPr>
          <a:xfrm>
            <a:off x="1827400" y="2180175"/>
            <a:ext cx="635100" cy="2504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4"/>
          <p:cNvSpPr txBox="1"/>
          <p:nvPr/>
        </p:nvSpPr>
        <p:spPr>
          <a:xfrm>
            <a:off x="1121825" y="3232425"/>
            <a:ext cx="6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9000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63" name="Google Shape;563;p75"/>
          <p:cNvSpPr txBox="1"/>
          <p:nvPr/>
        </p:nvSpPr>
        <p:spPr>
          <a:xfrm>
            <a:off x="832550" y="1968500"/>
            <a:ext cx="750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Hacemos </a:t>
            </a:r>
            <a:r>
              <a:rPr b="1" lang="en" sz="1700"/>
              <a:t>m</a:t>
            </a:r>
            <a:r>
              <a:rPr lang="en" sz="1700"/>
              <a:t> sub-tablas tomando solo algunas filas, de forma aleatoria, ¿cuantas tomamos? =&gt; 2/3 es decir 6000</a:t>
            </a:r>
            <a:endParaRPr sz="1700"/>
          </a:p>
        </p:txBody>
      </p:sp>
      <p:pic>
        <p:nvPicPr>
          <p:cNvPr id="564" name="Google Shape;5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775" y="2620075"/>
            <a:ext cx="3994136" cy="2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5"/>
          <p:cNvSpPr/>
          <p:nvPr/>
        </p:nvSpPr>
        <p:spPr>
          <a:xfrm>
            <a:off x="1756750" y="2926625"/>
            <a:ext cx="165000" cy="1672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75"/>
          <p:cNvSpPr txBox="1"/>
          <p:nvPr/>
        </p:nvSpPr>
        <p:spPr>
          <a:xfrm>
            <a:off x="992000" y="3539525"/>
            <a:ext cx="68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6000</a:t>
            </a:r>
            <a:endParaRPr/>
          </a:p>
        </p:txBody>
      </p:sp>
      <p:pic>
        <p:nvPicPr>
          <p:cNvPr id="567" name="Google Shape;56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1025" y="2984495"/>
            <a:ext cx="3847274" cy="19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2800" y="3115720"/>
            <a:ext cx="3847274" cy="19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5"/>
          <p:cNvSpPr/>
          <p:nvPr/>
        </p:nvSpPr>
        <p:spPr>
          <a:xfrm rot="-1989444">
            <a:off x="5990135" y="2643628"/>
            <a:ext cx="366950" cy="350059"/>
          </a:xfrm>
          <a:prstGeom prst="rightBrace">
            <a:avLst>
              <a:gd fmla="val 6048" name="adj1"/>
              <a:gd fmla="val 4232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5"/>
          <p:cNvSpPr txBox="1"/>
          <p:nvPr/>
        </p:nvSpPr>
        <p:spPr>
          <a:xfrm>
            <a:off x="6328850" y="2476500"/>
            <a:ext cx="4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m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76" name="Google Shape;576;p76"/>
          <p:cNvSpPr txBox="1"/>
          <p:nvPr/>
        </p:nvSpPr>
        <p:spPr>
          <a:xfrm>
            <a:off x="729450" y="1853850"/>
            <a:ext cx="75072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/>
              <a:t>Attribute</a:t>
            </a:r>
            <a:r>
              <a:rPr b="1" i="1" lang="en" sz="1700"/>
              <a:t> bagging </a:t>
            </a:r>
            <a:r>
              <a:rPr lang="en" sz="1700"/>
              <a:t>(o </a:t>
            </a:r>
            <a:r>
              <a:rPr b="1" i="1" lang="en" sz="1700"/>
              <a:t>random subspace</a:t>
            </a:r>
            <a:r>
              <a:rPr lang="en" sz="1700"/>
              <a:t>): </a:t>
            </a:r>
            <a:br>
              <a:rPr lang="en" sz="1700"/>
            </a:br>
            <a:br>
              <a:rPr lang="en" sz="1700"/>
            </a:br>
            <a:r>
              <a:rPr lang="en" sz="1600"/>
              <a:t>Luego para cada una de las </a:t>
            </a:r>
            <a:r>
              <a:rPr b="1" lang="en" sz="1600"/>
              <a:t>m</a:t>
            </a:r>
            <a:r>
              <a:rPr lang="en" sz="1600"/>
              <a:t> tablas, escogemos </a:t>
            </a:r>
            <a:r>
              <a:rPr lang="en" sz="1600"/>
              <a:t>sólo</a:t>
            </a:r>
            <a:r>
              <a:rPr lang="en" sz="1600"/>
              <a:t> algunos atributos (</a:t>
            </a:r>
            <a:r>
              <a:rPr b="1" lang="en" sz="1600"/>
              <a:t>COLUMNAS</a:t>
            </a:r>
            <a:r>
              <a:rPr lang="en" sz="1600"/>
              <a:t>) de forma aleatoria también.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/>
            </a:br>
            <a:r>
              <a:rPr lang="en" sz="1600"/>
              <a:t> ¿Con cuantas nos quedamos?  =&gt;Con </a:t>
            </a:r>
            <a:r>
              <a:rPr b="1" lang="en" sz="1600"/>
              <a:t>RAÍZ</a:t>
            </a:r>
            <a:r>
              <a:rPr b="1" lang="en" sz="1600"/>
              <a:t> CUADRADA</a:t>
            </a:r>
            <a:r>
              <a:rPr lang="en" sz="1600"/>
              <a:t> del número de atributos.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Cómo acá hay 8 atributos, tomamos </a:t>
            </a:r>
            <a:r>
              <a:rPr b="1" lang="en" sz="1600"/>
              <a:t>Round(√8) = 3</a:t>
            </a:r>
            <a:r>
              <a:rPr lang="en" sz="1600"/>
              <a:t> </a:t>
            </a:r>
            <a:br>
              <a:rPr lang="en" sz="1600"/>
            </a:br>
            <a:br>
              <a:rPr lang="en" sz="1600"/>
            </a:br>
            <a:r>
              <a:rPr lang="en" sz="1600"/>
              <a:t>(Esto es recomendable sobre todo cuando hay muchas columnas)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aggregating:</a:t>
            </a:r>
            <a:endParaRPr/>
          </a:p>
        </p:txBody>
      </p:sp>
      <p:sp>
        <p:nvSpPr>
          <p:cNvPr id="582" name="Google Shape;582;p77"/>
          <p:cNvSpPr txBox="1"/>
          <p:nvPr/>
        </p:nvSpPr>
        <p:spPr>
          <a:xfrm>
            <a:off x="729450" y="1853850"/>
            <a:ext cx="750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700"/>
              <a:t>Attribute bagging </a:t>
            </a:r>
            <a:r>
              <a:rPr lang="en" sz="1700"/>
              <a:t>(o </a:t>
            </a:r>
            <a:r>
              <a:rPr b="1" i="1" lang="en" sz="1700"/>
              <a:t>random subspace</a:t>
            </a:r>
            <a:r>
              <a:rPr lang="en" sz="1700"/>
              <a:t>): </a:t>
            </a:r>
            <a:endParaRPr sz="1700"/>
          </a:p>
        </p:txBody>
      </p:sp>
      <p:pic>
        <p:nvPicPr>
          <p:cNvPr id="583" name="Google Shape;5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313" y="2300250"/>
            <a:ext cx="2431369" cy="25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8"/>
          <p:cNvSpPr txBox="1"/>
          <p:nvPr>
            <p:ph type="title"/>
          </p:nvPr>
        </p:nvSpPr>
        <p:spPr>
          <a:xfrm>
            <a:off x="729450" y="1318650"/>
            <a:ext cx="5006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589" name="Google Shape;589;p78"/>
          <p:cNvSpPr txBox="1"/>
          <p:nvPr/>
        </p:nvSpPr>
        <p:spPr>
          <a:xfrm>
            <a:off x="729450" y="1853850"/>
            <a:ext cx="7507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/>
              <a:t>Ahora tenemos </a:t>
            </a:r>
            <a:r>
              <a:rPr b="1" i="1" lang="en" sz="1700"/>
              <a:t>m</a:t>
            </a:r>
            <a:r>
              <a:rPr i="1" lang="en" sz="1700"/>
              <a:t> tablas reducidas en atributos y para cada una de ellas entrenamos un árbol</a:t>
            </a:r>
            <a:endParaRPr i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i="1" lang="en" sz="1700"/>
              <a:t>Para cada árbol calculamos su matriz de confusión:</a:t>
            </a:r>
            <a:endParaRPr i="1" sz="1700"/>
          </a:p>
        </p:txBody>
      </p:sp>
      <p:pic>
        <p:nvPicPr>
          <p:cNvPr id="590" name="Google Shape;59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000" y="2823450"/>
            <a:ext cx="3424141" cy="20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9"/>
          <p:cNvSpPr txBox="1"/>
          <p:nvPr>
            <p:ph type="title"/>
          </p:nvPr>
        </p:nvSpPr>
        <p:spPr>
          <a:xfrm>
            <a:off x="729450" y="1318650"/>
            <a:ext cx="5006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596" name="Google Shape;596;p79"/>
          <p:cNvSpPr txBox="1"/>
          <p:nvPr/>
        </p:nvSpPr>
        <p:spPr>
          <a:xfrm>
            <a:off x="729450" y="1813275"/>
            <a:ext cx="7751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Entonces calculamos la tasa de error de cada árbol, esto es: </a:t>
            </a:r>
            <a:br>
              <a:rPr lang="en" sz="1500"/>
            </a:br>
            <a:r>
              <a:rPr lang="en" sz="1500"/>
              <a:t>FALSOS POSITIVOS + FALSOS NEGATIVOS SOBRE EL TOTAL DE EJEMPLOS CLASIFICADOS </a:t>
            </a:r>
            <a:br>
              <a:rPr lang="en" sz="1500"/>
            </a:br>
            <a:r>
              <a:rPr lang="en" sz="1500"/>
              <a:t>(Sobre un conjunto de entrenamiento o sobre un porcentaje del conjunto utilizado)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Nos quedamos con el mejor árbol de los </a:t>
            </a:r>
            <a:r>
              <a:rPr b="1" lang="en" sz="1500"/>
              <a:t>m</a:t>
            </a:r>
            <a:r>
              <a:rPr lang="en" sz="1500"/>
              <a:t>, y </a:t>
            </a:r>
            <a:r>
              <a:rPr lang="en" sz="1500" u="sng"/>
              <a:t>repetimos el proceso K veces</a:t>
            </a:r>
            <a:r>
              <a:rPr lang="en" sz="1500"/>
              <a:t>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 final vamos a tener K árboles.</a:t>
            </a:r>
            <a:endParaRPr sz="1500"/>
          </a:p>
        </p:txBody>
      </p:sp>
      <p:sp>
        <p:nvSpPr>
          <p:cNvPr id="597" name="Google Shape;597;p79"/>
          <p:cNvSpPr txBox="1"/>
          <p:nvPr/>
        </p:nvSpPr>
        <p:spPr>
          <a:xfrm>
            <a:off x="2736150" y="3614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(FP + FN) / TOTAL = </a:t>
            </a:r>
            <a:r>
              <a:rPr b="1" lang="en"/>
              <a:t>Tasa de error</a:t>
            </a:r>
            <a:endParaRPr b="1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sp>
        <p:nvSpPr>
          <p:cNvPr id="603" name="Google Shape;603;p80"/>
          <p:cNvSpPr txBox="1"/>
          <p:nvPr>
            <p:ph idx="1" type="body"/>
          </p:nvPr>
        </p:nvSpPr>
        <p:spPr>
          <a:xfrm>
            <a:off x="729450" y="2078875"/>
            <a:ext cx="4908000" cy="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/>
              <a:t>¿Cómo clasificar una vez finalizado el proceso?</a:t>
            </a:r>
            <a:endParaRPr b="1" sz="1700"/>
          </a:p>
        </p:txBody>
      </p:sp>
      <p:sp>
        <p:nvSpPr>
          <p:cNvPr id="604" name="Google Shape;604;p80"/>
          <p:cNvSpPr txBox="1"/>
          <p:nvPr/>
        </p:nvSpPr>
        <p:spPr>
          <a:xfrm>
            <a:off x="729450" y="2539975"/>
            <a:ext cx="8090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Luego para clasificar un nuevo ejemplo hacemos lo siguiente: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Ejecutamos el caso que queremos probar por cada uno de los </a:t>
            </a:r>
            <a:r>
              <a:rPr b="1" lang="en" sz="1700"/>
              <a:t>K</a:t>
            </a:r>
            <a:r>
              <a:rPr lang="en" sz="1700"/>
              <a:t> arboles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 la mayoría de los casos devolvió que la categoría final es </a:t>
            </a:r>
            <a:r>
              <a:rPr b="1" lang="en" sz="1700"/>
              <a:t>CATEGORIA-A</a:t>
            </a:r>
            <a:r>
              <a:rPr lang="en" sz="1700"/>
              <a:t>,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entonces nos quedamos con ese valor de salida.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Forest: </a:t>
            </a:r>
            <a:endParaRPr/>
          </a:p>
        </p:txBody>
      </p:sp>
      <p:pic>
        <p:nvPicPr>
          <p:cNvPr id="610" name="Google Shape;61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9175" y="1853850"/>
            <a:ext cx="541195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
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aleway"/>
      <p:regular r:id="rId43"/>
      <p:bold r:id="rId44"/>
      <p:italic r:id="rId45"/>
      <p:boldItalic r:id="rId46"/>
    </p:embeddedFont>
    <p:embeddedFont>
      <p:font typeface="Lato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hsbzYK+gN/Y3C99SmqtQd7EVzB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aleway-bold.fntdata"/><Relationship Id="rId43" Type="http://schemas.openxmlformats.org/officeDocument/2006/relationships/font" Target="fonts/Raleway-regular.fntdata"/><Relationship Id="rId46" Type="http://schemas.openxmlformats.org/officeDocument/2006/relationships/font" Target="fonts/Raleway-boldItalic.fntdata"/><Relationship Id="rId45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bold.fntdata"/><Relationship Id="rId47" Type="http://schemas.openxmlformats.org/officeDocument/2006/relationships/font" Target="fonts/Lato-regular.fntdata"/><Relationship Id="rId49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regular.fntdata"/><Relationship Id="rId50" Type="http://schemas.openxmlformats.org/officeDocument/2006/relationships/font" Target="fonts/Lato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5ca31495c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115ca31495c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5ca31495c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115ca31495c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97b9ccfa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1197b9ccfa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d9cd76a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11d9cd76a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97b9ccfa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1197b9ccf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97b9ccfa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1197b9ccf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1c5ea2a63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1c5ea2a63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e3d73b2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11e3d73b2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c5ea2a63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1c5ea2a6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97b9ccfa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1197b9ccfa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97b9ccfa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1197b9ccfa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97b9ccfa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1197b9ccfa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97b9ccfa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1197b9ccfa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1e3d73b2b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11e3d73b2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1e3d73b2b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11e3d73b2b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1e3d73b2b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11e3d73b2b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1e3d73b2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11e3d73b2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1e3d73b2b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11e3d73b2b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e3d73b2b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11e3d73b2b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e3d73b2b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11e3d73b2b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1e3d73b2b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11e3d73b2b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1e3d73b2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11e3d73b2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76657b137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276657b137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1e3d73b2b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11e3d73b2b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3e6365f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f3e6365f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15ca31495c_0_2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115ca31495c_0_2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g115ca31495c_0_2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115ca31495c_0_2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g115ca31495c_0_22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g115ca31495c_0_228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g115ca31495c_0_2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15ca31495c_0_25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g115ca31495c_0_25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g115ca31495c_0_2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115ca31495c_0_2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115ca31495c_0_25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g115ca31495c_0_25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g115ca31495c_0_25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115ca31495c_0_2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15ca31495c_0_24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g115ca31495c_0_2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g115ca31495c_0_2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115ca31495c_0_2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g115ca31495c_0_2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" name="Google Shape;32;g115ca31495c_0_2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g115ca31495c_0_2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g115ca31495c_0_2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g115ca31495c_0_2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115ca31495c_0_2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g115ca31495c_0_2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115ca31495c_0_2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2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15ca31495c_0_306"/>
          <p:cNvSpPr/>
          <p:nvPr/>
        </p:nvSpPr>
        <p:spPr>
          <a:xfrm>
            <a:off x="8122570" y="0"/>
            <a:ext cx="1007100" cy="92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15ca31495c_0_306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3" name="Google Shape;43;g115ca31495c_0_306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g115ca31495c_0_3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45" name="Google Shape;45;g115ca31495c_0_3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9507" y="-2525"/>
            <a:ext cx="964350" cy="9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15ca31495c_0_25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g115ca31495c_0_25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9" name="Google Shape;49;g115ca31495c_0_2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115ca31495c_0_2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g115ca31495c_0_25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2" name="Google Shape;52;g115ca31495c_0_2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15ca31495c_0_26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g115ca31495c_0_26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6" name="Google Shape;56;g115ca31495c_0_2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115ca31495c_0_2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g115ca31495c_0_26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9" name="Google Shape;59;g115ca31495c_0_26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" name="Google Shape;60;g115ca31495c_0_26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g115ca31495c_0_27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3" name="Google Shape;63;g115ca31495c_0_27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115ca31495c_0_27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g115ca31495c_0_27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g115ca31495c_0_27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5ca31495c_0_28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g115ca31495c_0_28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g115ca31495c_0_28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115ca31495c_0_28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g115ca31495c_0_28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3" name="Google Shape;73;g115ca31495c_0_28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g115ca31495c_0_28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g115ca31495c_0_28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5ca31495c_0_28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8" name="Google Shape;78;g115ca31495c_0_28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115ca31495c_0_29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1" name="Google Shape;81;g115ca31495c_0_29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115ca31495c_0_29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g115ca31495c_0_292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g115ca31495c_0_292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g115ca31495c_0_29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5ca31495c_0_29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5ca31495c_0_3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90" name="Google Shape;90;g115ca31495c_0_3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8200" y="0"/>
            <a:ext cx="835800" cy="8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115ca31495c_0_301"/>
          <p:cNvSpPr txBox="1"/>
          <p:nvPr>
            <p:ph idx="1" type="subTitle"/>
          </p:nvPr>
        </p:nvSpPr>
        <p:spPr>
          <a:xfrm>
            <a:off x="332325" y="3403825"/>
            <a:ext cx="85206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g115ca31495c_0_301"/>
          <p:cNvSpPr txBox="1"/>
          <p:nvPr>
            <p:ph type="title"/>
          </p:nvPr>
        </p:nvSpPr>
        <p:spPr>
          <a:xfrm>
            <a:off x="191350" y="1107750"/>
            <a:ext cx="8829900" cy="1953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5000"/>
              <a:buNone/>
              <a:defRPr b="1" sz="5000">
                <a:solidFill>
                  <a:srgbClr val="CC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15ca31495c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115ca31495c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115ca31495c_0_2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atos7506-fiuba.github.io/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uXBD49VZOuu_guAQDIXDwlGSKIVyWgicO5nd5MNKsfw/edit?gid=1876896768#gid=1876896768" TargetMode="External"/><Relationship Id="rId4" Type="http://schemas.openxmlformats.org/officeDocument/2006/relationships/hyperlink" Target="https://docs.google.com/spreadsheets/d/1QVDxjydvshNg3BHRbY1omE5fT9Tj0VO3j09FZC3FBdQ/edit?usp=sharing" TargetMode="External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drive/folders/16WyWC1HBv2dLF3rPTlhrK0OXw3G3hbhh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43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kaggle.com/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news.antiwar.com/2020/03/24/israel-may-try-to-detect-coronavirus-by-voice/" TargetMode="External"/><Relationship Id="rId4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loud.google.com/video-intelligence?hl=es" TargetMode="External"/><Relationship Id="rId4" Type="http://schemas.openxmlformats.org/officeDocument/2006/relationships/image" Target="../media/image3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loud.google.com/vision?hl=es" TargetMode="External"/><Relationship Id="rId4" Type="http://schemas.openxmlformats.org/officeDocument/2006/relationships/hyperlink" Target="https://youtu.be/zxoxL4Io_1M?t=114" TargetMode="External"/><Relationship Id="rId5" Type="http://schemas.openxmlformats.org/officeDocument/2006/relationships/hyperlink" Target="https://aiir.ai/industries/fire-detection/?utm_campaign=JorgeTeTiraLeads" TargetMode="External"/><Relationship Id="rId6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9.jp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jpg"/><Relationship Id="rId4" Type="http://schemas.openxmlformats.org/officeDocument/2006/relationships/image" Target="../media/image34.jpg"/><Relationship Id="rId9" Type="http://schemas.openxmlformats.org/officeDocument/2006/relationships/image" Target="../media/image27.png"/><Relationship Id="rId5" Type="http://schemas.openxmlformats.org/officeDocument/2006/relationships/image" Target="../media/image33.jpg"/><Relationship Id="rId6" Type="http://schemas.openxmlformats.org/officeDocument/2006/relationships/image" Target="../media/image42.jpg"/><Relationship Id="rId7" Type="http://schemas.openxmlformats.org/officeDocument/2006/relationships/image" Target="../media/image45.jpg"/><Relationship Id="rId8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Relationship Id="rId4" Type="http://schemas.openxmlformats.org/officeDocument/2006/relationships/hyperlink" Target="https://d2l.ai/" TargetMode="External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5ca31495c_0_31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Introducción a la cátedra</a:t>
            </a:r>
            <a:endParaRPr/>
          </a:p>
        </p:txBody>
      </p:sp>
      <p:sp>
        <p:nvSpPr>
          <p:cNvPr id="98" name="Google Shape;98;g115ca31495c_0_31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 sz="1800"/>
              <a:t>Dr. Ing. Juan M. Rodríguez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5ca31495c_0_32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Slack como canal de comunicación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04" name="Google Shape;104;g115ca31495c_0_3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2000" y="2117613"/>
            <a:ext cx="334327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197b9ccfaf_0_7"/>
          <p:cNvSpPr txBox="1"/>
          <p:nvPr>
            <p:ph type="title"/>
          </p:nvPr>
        </p:nvSpPr>
        <p:spPr>
          <a:xfrm>
            <a:off x="729450" y="1318650"/>
            <a:ext cx="2590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Docentes</a:t>
            </a:r>
            <a:endParaRPr/>
          </a:p>
        </p:txBody>
      </p:sp>
      <p:sp>
        <p:nvSpPr>
          <p:cNvPr id="110" name="Google Shape;110;g1197b9ccfaf_0_7"/>
          <p:cNvSpPr txBox="1"/>
          <p:nvPr>
            <p:ph idx="1" type="body"/>
          </p:nvPr>
        </p:nvSpPr>
        <p:spPr>
          <a:xfrm>
            <a:off x="1849275" y="1727775"/>
            <a:ext cx="6584100" cy="25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Titular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Juan M. Rodríguez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Jefa de TPs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Azul Villanueva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Mateo Suster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Franco Mastelli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d9cd76a05_0_5"/>
          <p:cNvSpPr txBox="1"/>
          <p:nvPr>
            <p:ph type="title"/>
          </p:nvPr>
        </p:nvSpPr>
        <p:spPr>
          <a:xfrm>
            <a:off x="729450" y="1318650"/>
            <a:ext cx="2590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Colaboradores</a:t>
            </a:r>
            <a:endParaRPr/>
          </a:p>
        </p:txBody>
      </p:sp>
      <p:sp>
        <p:nvSpPr>
          <p:cNvPr id="116" name="Google Shape;116;g11d9cd76a05_0_5"/>
          <p:cNvSpPr txBox="1"/>
          <p:nvPr>
            <p:ph idx="1" type="body"/>
          </p:nvPr>
        </p:nvSpPr>
        <p:spPr>
          <a:xfrm>
            <a:off x="2631175" y="1853850"/>
            <a:ext cx="4950300" cy="29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Axel Perez Machado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Paredes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Francisco Pereira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Gabriel Bedoya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Dolores Levi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Manuel Dávila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Kevin Vallejo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97b9ccfaf_0_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Modalidad de cursada</a:t>
            </a:r>
            <a:endParaRPr/>
          </a:p>
        </p:txBody>
      </p:sp>
      <p:sp>
        <p:nvSpPr>
          <p:cNvPr id="122" name="Google Shape;122;g1197b9ccfaf_0_13"/>
          <p:cNvSpPr txBox="1"/>
          <p:nvPr>
            <p:ph idx="1" type="body"/>
          </p:nvPr>
        </p:nvSpPr>
        <p:spPr>
          <a:xfrm>
            <a:off x="729450" y="2078875"/>
            <a:ext cx="68376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Teórica</a:t>
            </a:r>
            <a:r>
              <a:rPr lang="es-419" sz="2100"/>
              <a:t>:   Martes 19:00 - 22:00 hs virtual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Práctica</a:t>
            </a:r>
            <a:r>
              <a:rPr lang="es-419" sz="2100"/>
              <a:t>: Jueves  19:00 - 22:00 hs virtual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97b9ccfaf_0_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¿Cómo aprobar?</a:t>
            </a:r>
            <a:endParaRPr/>
          </a:p>
        </p:txBody>
      </p:sp>
      <p:sp>
        <p:nvSpPr>
          <p:cNvPr id="128" name="Google Shape;128;g1197b9ccfaf_0_18"/>
          <p:cNvSpPr txBox="1"/>
          <p:nvPr>
            <p:ph idx="1" type="body"/>
          </p:nvPr>
        </p:nvSpPr>
        <p:spPr>
          <a:xfrm>
            <a:off x="729450" y="1898800"/>
            <a:ext cx="8236800" cy="27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2 trabajos prácticos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El segundo será una competencia privada en Kaggle.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Parcial, presencial y escrito. (2 recuperatorios)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Examen final, presencial y escrito. (Pero se puede pseudo-promocionar)</a:t>
            </a:r>
            <a:endParaRPr b="1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1c5ea2a631_0_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Sitio Web:</a:t>
            </a:r>
            <a:endParaRPr/>
          </a:p>
        </p:txBody>
      </p:sp>
      <p:sp>
        <p:nvSpPr>
          <p:cNvPr id="134" name="Google Shape;134;g21c5ea2a631_0_12"/>
          <p:cNvSpPr txBox="1"/>
          <p:nvPr>
            <p:ph idx="1" type="body"/>
          </p:nvPr>
        </p:nvSpPr>
        <p:spPr>
          <a:xfrm>
            <a:off x="2533800" y="1318650"/>
            <a:ext cx="5005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b="1" lang="es-419" sz="2100" u="sng">
                <a:solidFill>
                  <a:schemeClr val="hlink"/>
                </a:solidFill>
                <a:hlinkClick r:id="rId3"/>
              </a:rPr>
              <a:t>https://datos7506-fiuba.github.io/</a:t>
            </a:r>
            <a:endParaRPr b="1" sz="2100"/>
          </a:p>
        </p:txBody>
      </p:sp>
      <p:pic>
        <p:nvPicPr>
          <p:cNvPr id="135" name="Google Shape;135;g21c5ea2a631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013" y="1853850"/>
            <a:ext cx="652957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e3d73b2bd_0_0"/>
          <p:cNvSpPr txBox="1"/>
          <p:nvPr>
            <p:ph type="title"/>
          </p:nvPr>
        </p:nvSpPr>
        <p:spPr>
          <a:xfrm>
            <a:off x="139850" y="448450"/>
            <a:ext cx="8276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Calendario</a:t>
            </a:r>
            <a:endParaRPr/>
          </a:p>
        </p:txBody>
      </p:sp>
      <p:sp>
        <p:nvSpPr>
          <p:cNvPr id="141" name="Google Shape;141;g11e3d73b2bd_0_0">
            <a:hlinkClick r:id="rId3"/>
          </p:cNvPr>
          <p:cNvSpPr txBox="1"/>
          <p:nvPr/>
        </p:nvSpPr>
        <p:spPr>
          <a:xfrm>
            <a:off x="139850" y="1418300"/>
            <a:ext cx="265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Calendario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11e3d73b2b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6225" y="1151075"/>
            <a:ext cx="6044948" cy="3568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c5ea2a631_0_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Material para alumnos:</a:t>
            </a:r>
            <a:endParaRPr/>
          </a:p>
        </p:txBody>
      </p:sp>
      <p:sp>
        <p:nvSpPr>
          <p:cNvPr id="148" name="Google Shape;148;g21c5ea2a631_0_2"/>
          <p:cNvSpPr txBox="1"/>
          <p:nvPr/>
        </p:nvSpPr>
        <p:spPr>
          <a:xfrm>
            <a:off x="846025" y="1781875"/>
            <a:ext cx="801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 al drive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21c5ea2a631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025" y="2182075"/>
            <a:ext cx="4447426" cy="265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97b9ccfaf_0_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Herramientas y tecnologías a utilizar</a:t>
            </a:r>
            <a:endParaRPr/>
          </a:p>
        </p:txBody>
      </p:sp>
      <p:sp>
        <p:nvSpPr>
          <p:cNvPr id="155" name="Google Shape;155;g1197b9ccfaf_0_23"/>
          <p:cNvSpPr txBox="1"/>
          <p:nvPr>
            <p:ph idx="1" type="body"/>
          </p:nvPr>
        </p:nvSpPr>
        <p:spPr>
          <a:xfrm>
            <a:off x="729450" y="2078875"/>
            <a:ext cx="41325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s-419" sz="2300"/>
              <a:t>Python 3: 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s-419" sz="2300"/>
              <a:t>Tensorflow, 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s-419" sz="2300"/>
              <a:t>Keras, 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s-419" sz="2300"/>
              <a:t>Numpy, 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s-419" sz="2300"/>
              <a:t>Pandas</a:t>
            </a:r>
            <a:endParaRPr b="1" sz="2500"/>
          </a:p>
        </p:txBody>
      </p:sp>
      <p:pic>
        <p:nvPicPr>
          <p:cNvPr id="156" name="Google Shape;156;g1197b9ccfaf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8725" y="991650"/>
            <a:ext cx="2568576" cy="10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1197b9ccfaf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9650" y="1927400"/>
            <a:ext cx="1175199" cy="12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1197b9ccfaf_0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9550" y="2030274"/>
            <a:ext cx="2667150" cy="77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1197b9ccfaf_0_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9650" y="3183875"/>
            <a:ext cx="1307650" cy="130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1197b9ccfaf_0_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32221" y="3183871"/>
            <a:ext cx="2372600" cy="961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97b9ccfaf_0_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Herramientas y tecnologías a utilizar</a:t>
            </a:r>
            <a:endParaRPr/>
          </a:p>
        </p:txBody>
      </p:sp>
      <p:sp>
        <p:nvSpPr>
          <p:cNvPr id="166" name="Google Shape;166;g1197b9ccfaf_0_35"/>
          <p:cNvSpPr txBox="1"/>
          <p:nvPr>
            <p:ph idx="1" type="body"/>
          </p:nvPr>
        </p:nvSpPr>
        <p:spPr>
          <a:xfrm>
            <a:off x="729450" y="2078875"/>
            <a:ext cx="38424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Python 3: 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419" sz="2100"/>
              <a:t>PyTorch (a través de Yolo), 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419" sz="2100"/>
              <a:t>Yolo,  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419" sz="2100"/>
              <a:t>scikit-learn</a:t>
            </a:r>
            <a:endParaRPr b="1"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</p:txBody>
      </p:sp>
      <p:pic>
        <p:nvPicPr>
          <p:cNvPr id="167" name="Google Shape;167;g1197b9ccfaf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8725" y="991650"/>
            <a:ext cx="2568576" cy="10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1197b9ccfaf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0488" y="1853850"/>
            <a:ext cx="1503089" cy="1503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1197b9ccfaf_0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1250" y="2162675"/>
            <a:ext cx="2693575" cy="8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1197b9ccfaf_0_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2225" y="3356948"/>
            <a:ext cx="2395748" cy="12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97b9ccfaf_0_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Herramientas y tecnologías a utilizar</a:t>
            </a:r>
            <a:endParaRPr/>
          </a:p>
        </p:txBody>
      </p:sp>
      <p:sp>
        <p:nvSpPr>
          <p:cNvPr id="176" name="Google Shape;176;g1197b9ccfaf_0_49"/>
          <p:cNvSpPr txBox="1"/>
          <p:nvPr>
            <p:ph idx="1" type="body"/>
          </p:nvPr>
        </p:nvSpPr>
        <p:spPr>
          <a:xfrm>
            <a:off x="729450" y="2078875"/>
            <a:ext cx="31911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Máquinas Júpiter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 u="sng">
                <a:solidFill>
                  <a:schemeClr val="hlink"/>
                </a:solidFill>
                <a:hlinkClick r:id="rId3"/>
              </a:rPr>
              <a:t>Google Colab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 u="sng">
                <a:solidFill>
                  <a:schemeClr val="hlink"/>
                </a:solidFill>
                <a:hlinkClick r:id="rId4"/>
              </a:rPr>
              <a:t>Kaggle</a:t>
            </a:r>
            <a:endParaRPr b="1" sz="2100"/>
          </a:p>
        </p:txBody>
      </p:sp>
      <p:pic>
        <p:nvPicPr>
          <p:cNvPr id="177" name="Google Shape;177;g1197b9ccfaf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4475" y="1853850"/>
            <a:ext cx="1581924" cy="21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1197b9ccfaf_0_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8074" y="1829475"/>
            <a:ext cx="2133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1197b9ccfaf_0_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3900" y="3657975"/>
            <a:ext cx="2622026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197b9ccfaf_0_6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Introducción a la materia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¿Qué es un </a:t>
            </a:r>
            <a:r>
              <a:rPr i="1" lang="es-419"/>
              <a:t>data scientist</a:t>
            </a:r>
            <a:r>
              <a:rPr lang="es-419"/>
              <a:t>?</a:t>
            </a:r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700375" y="1311425"/>
            <a:ext cx="7686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900"/>
              <a:t>Es capaz de:</a:t>
            </a:r>
            <a:endParaRPr sz="1900"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s-419" sz="1900"/>
              <a:t>Obtener, Interpretar, procesar y filtrar los datos.</a:t>
            </a:r>
            <a:endParaRPr sz="1900"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s-419" sz="1900"/>
              <a:t>Llegar a conclusiones a partir de lo anterior.</a:t>
            </a:r>
            <a:endParaRPr sz="1900"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s-419" sz="1900"/>
              <a:t>Construir soluciones para los problemas que se quiere solucionar.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s-419"/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i="1" lang="es-419"/>
              <a:t>Data Scientist != Data Engineer</a:t>
            </a:r>
            <a:endParaRPr i="1"/>
          </a:p>
        </p:txBody>
      </p:sp>
      <p:sp>
        <p:nvSpPr>
          <p:cNvPr id="196" name="Google Shape;196;p13"/>
          <p:cNvSpPr txBox="1"/>
          <p:nvPr>
            <p:ph idx="1" type="body"/>
          </p:nvPr>
        </p:nvSpPr>
        <p:spPr>
          <a:xfrm>
            <a:off x="162975" y="1075300"/>
            <a:ext cx="8175000" cy="3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419" sz="1600"/>
              <a:t>Considerable solapamiento entre las habilidades y responsabilidades.</a:t>
            </a:r>
            <a:endParaRPr sz="1600"/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419" sz="1600"/>
              <a:t>Hay una importante diferencia en el enfoque.</a:t>
            </a:r>
            <a:endParaRPr sz="1600"/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419" sz="1600"/>
              <a:t>El ingeniero de datos se enfoca en la</a:t>
            </a:r>
            <a:r>
              <a:rPr b="1" lang="es-419" sz="1600"/>
              <a:t> creación de la infraestructura</a:t>
            </a:r>
            <a:r>
              <a:rPr lang="es-419" sz="1600"/>
              <a:t> y a</a:t>
            </a:r>
            <a:r>
              <a:rPr b="1" lang="es-419" sz="1600"/>
              <a:t>rquitectura para la generación, soporte y extracción de los datos</a:t>
            </a:r>
            <a:r>
              <a:rPr lang="es-419" sz="1600"/>
              <a:t>. (</a:t>
            </a:r>
            <a:r>
              <a:rPr b="1" lang="es-419" sz="1600"/>
              <a:t>Big Data</a:t>
            </a:r>
            <a:r>
              <a:rPr lang="es-419" sz="1600"/>
              <a:t>)</a:t>
            </a:r>
            <a:endParaRPr sz="1600"/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419" sz="1600"/>
              <a:t>El </a:t>
            </a:r>
            <a:r>
              <a:rPr lang="es-419" sz="1600" u="sng"/>
              <a:t>científico de datos</a:t>
            </a:r>
            <a:r>
              <a:rPr lang="es-419" sz="1600"/>
              <a:t> se enfoca en la interpretación y análisis de los datos mediante el análisis estadístico y matemático.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/>
        </p:nvSpPr>
        <p:spPr>
          <a:xfrm>
            <a:off x="0" y="835800"/>
            <a:ext cx="9144000" cy="43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5963" y="1066625"/>
            <a:ext cx="4245924" cy="384827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Dominios de conocimiento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/>
        </p:nvSpPr>
        <p:spPr>
          <a:xfrm>
            <a:off x="0" y="835800"/>
            <a:ext cx="27378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mining</a:t>
            </a:r>
            <a:endParaRPr b="0" i="0" sz="2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9" name="Google Shape;2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7750" y="835794"/>
            <a:ext cx="1147425" cy="93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236" y="1384700"/>
            <a:ext cx="2429725" cy="13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 rotWithShape="1">
          <a:blip r:embed="rId5">
            <a:alphaModFix/>
          </a:blip>
          <a:srcRect b="0" l="14320" r="15782" t="28866"/>
          <a:stretch/>
        </p:blipFill>
        <p:spPr>
          <a:xfrm>
            <a:off x="4400225" y="3423060"/>
            <a:ext cx="1497450" cy="1068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5"/>
          <p:cNvSpPr txBox="1"/>
          <p:nvPr/>
        </p:nvSpPr>
        <p:spPr>
          <a:xfrm>
            <a:off x="121175" y="1876175"/>
            <a:ext cx="4343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Visualización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33650" y="2652575"/>
            <a:ext cx="39255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Matemática y Estadística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44975" y="3835788"/>
            <a:ext cx="3703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Machine Learning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44975" y="4445400"/>
            <a:ext cx="79455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Plataformas: Linux, AWS, Google Cloud,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Habilidades técnicas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e3d73b2bd_0_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¿Qué es </a:t>
            </a:r>
            <a:r>
              <a:rPr i="1" lang="es-419"/>
              <a:t>machine learning</a:t>
            </a:r>
            <a:r>
              <a:rPr lang="es-419"/>
              <a:t>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1e3d73b2bd_0_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27" name="Google Shape;227;g11e3d73b2bd_0_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800"/>
              <a:t>El aprendizaje automático es la ciencia (y el arte) de programar computadoras para que aprendan a partir de datos.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800"/>
              <a:t>(Aurélien Géron, 2019)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e3d73b2bd_0_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33" name="Google Shape;233;g11e3d73b2bd_0_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800"/>
              <a:t>Se dice que un programa de computadoras aprende de la experiencia E, respecto de una tarea T y una medida de rendimiento R, si su rendimiento en T, medido por R, mejora la experiencia E.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800"/>
              <a:t>(Tom Mitchell, 1997)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e3d73b2bd_0_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39" name="Google Shape;239;g11e3d73b2bd_0_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800"/>
              <a:t>El aprendizaje automático es el campo de estudio que da a las computadoras la capacidad de aprender sin ser programadas de manera explícita.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800"/>
              <a:t>(Arthur Samuel, 1959)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1e3d73b2bd_0_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45" name="Google Shape;245;g11e3d73b2bd_0_30"/>
          <p:cNvSpPr txBox="1"/>
          <p:nvPr>
            <p:ph idx="1" type="body"/>
          </p:nvPr>
        </p:nvSpPr>
        <p:spPr>
          <a:xfrm>
            <a:off x="729450" y="2078875"/>
            <a:ext cx="19266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b="1" lang="es-419" sz="1800"/>
              <a:t>Filtro de SPAM</a:t>
            </a:r>
            <a:endParaRPr b="1" sz="1800"/>
          </a:p>
        </p:txBody>
      </p:sp>
      <p:pic>
        <p:nvPicPr>
          <p:cNvPr id="246" name="Google Shape;246;g11e3d73b2bd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200" y="2078875"/>
            <a:ext cx="6183148" cy="27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11e3d73b2bd_0_30"/>
          <p:cNvSpPr txBox="1"/>
          <p:nvPr>
            <p:ph idx="1" type="body"/>
          </p:nvPr>
        </p:nvSpPr>
        <p:spPr>
          <a:xfrm>
            <a:off x="729450" y="2617775"/>
            <a:ext cx="19266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84967"/>
              <a:buNone/>
            </a:pPr>
            <a:r>
              <a:rPr b="1" lang="es-419" sz="1800"/>
              <a:t>Enfoque tradicional</a:t>
            </a:r>
            <a:endParaRPr b="1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e3d73b2bd_0_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53" name="Google Shape;253;g11e3d73b2bd_0_37"/>
          <p:cNvSpPr txBox="1"/>
          <p:nvPr>
            <p:ph idx="1" type="body"/>
          </p:nvPr>
        </p:nvSpPr>
        <p:spPr>
          <a:xfrm>
            <a:off x="729450" y="2078875"/>
            <a:ext cx="19266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b="1" lang="es-419" sz="1800"/>
              <a:t>Filtro de SPAM</a:t>
            </a:r>
            <a:endParaRPr b="1" sz="1800"/>
          </a:p>
        </p:txBody>
      </p:sp>
      <p:sp>
        <p:nvSpPr>
          <p:cNvPr id="254" name="Google Shape;254;g11e3d73b2bd_0_37"/>
          <p:cNvSpPr txBox="1"/>
          <p:nvPr>
            <p:ph idx="1" type="body"/>
          </p:nvPr>
        </p:nvSpPr>
        <p:spPr>
          <a:xfrm>
            <a:off x="729450" y="2617775"/>
            <a:ext cx="19266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b="1" lang="es-419" sz="1800"/>
              <a:t>Enfoque ML</a:t>
            </a:r>
            <a:endParaRPr b="1" sz="1800"/>
          </a:p>
        </p:txBody>
      </p:sp>
      <p:pic>
        <p:nvPicPr>
          <p:cNvPr id="255" name="Google Shape;255;g11e3d73b2bd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6050" y="2004550"/>
            <a:ext cx="6183151" cy="281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1e3d73b2bd_0_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61" name="Google Shape;261;g11e3d73b2bd_0_45"/>
          <p:cNvSpPr txBox="1"/>
          <p:nvPr>
            <p:ph idx="1" type="body"/>
          </p:nvPr>
        </p:nvSpPr>
        <p:spPr>
          <a:xfrm>
            <a:off x="729450" y="1913025"/>
            <a:ext cx="30612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s-419" sz="1690"/>
              <a:t>Filtro de SPAM - enfoque ML</a:t>
            </a:r>
            <a:endParaRPr b="1" sz="1690"/>
          </a:p>
        </p:txBody>
      </p:sp>
      <p:sp>
        <p:nvSpPr>
          <p:cNvPr id="262" name="Google Shape;262;g11e3d73b2bd_0_45"/>
          <p:cNvSpPr txBox="1"/>
          <p:nvPr>
            <p:ph idx="1" type="body"/>
          </p:nvPr>
        </p:nvSpPr>
        <p:spPr>
          <a:xfrm>
            <a:off x="729450" y="2405925"/>
            <a:ext cx="47940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b="1" lang="es-419" sz="1800"/>
              <a:t>Adaptación al cambio de forma automática</a:t>
            </a:r>
            <a:endParaRPr b="1" sz="1800"/>
          </a:p>
        </p:txBody>
      </p:sp>
      <p:pic>
        <p:nvPicPr>
          <p:cNvPr id="263" name="Google Shape;263;g11e3d73b2bd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6700" y="2954600"/>
            <a:ext cx="5024503" cy="19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e3d73b2bd_0_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69" name="Google Shape;269;g11e3d73b2bd_0_53"/>
          <p:cNvSpPr txBox="1"/>
          <p:nvPr>
            <p:ph idx="1" type="body"/>
          </p:nvPr>
        </p:nvSpPr>
        <p:spPr>
          <a:xfrm>
            <a:off x="729450" y="1913025"/>
            <a:ext cx="30612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s-419" sz="1690"/>
              <a:t>Pueden ayudarnos a aprender</a:t>
            </a:r>
            <a:endParaRPr b="1" sz="1690"/>
          </a:p>
        </p:txBody>
      </p:sp>
      <p:pic>
        <p:nvPicPr>
          <p:cNvPr id="270" name="Google Shape;270;g11e3d73b2bd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0650" y="2036000"/>
            <a:ext cx="5048550" cy="269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1e3d73b2bd_0_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¿Para qué se usa?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Pre-diagnosticos en base a historial clínico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Detección temprana de tumores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Generación de nuevas drogas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Test de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coronavirus a través de la voz</a:t>
            </a:r>
            <a:r>
              <a:rPr lang="es-419"/>
              <a:t>?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Psiquiatría (depresión "pura" y psicosis "pura")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Epidemiología</a:t>
            </a:r>
            <a:endParaRPr/>
          </a:p>
        </p:txBody>
      </p:sp>
      <p:sp>
        <p:nvSpPr>
          <p:cNvPr id="281" name="Google Shape;281;p23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Salud</a:t>
            </a:r>
            <a:endParaRPr/>
          </a:p>
        </p:txBody>
      </p:sp>
      <p:pic>
        <p:nvPicPr>
          <p:cNvPr id="282" name="Google Shape;282;p23"/>
          <p:cNvPicPr preferRelativeResize="0"/>
          <p:nvPr/>
        </p:nvPicPr>
        <p:blipFill rotWithShape="1">
          <a:blip r:embed="rId4">
            <a:alphaModFix/>
          </a:blip>
          <a:srcRect b="8978" l="5769" r="8112" t="29565"/>
          <a:stretch/>
        </p:blipFill>
        <p:spPr>
          <a:xfrm>
            <a:off x="4904650" y="3441750"/>
            <a:ext cx="4239350" cy="170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Aumentar la conexión emocional (</a:t>
            </a:r>
            <a:r>
              <a:rPr i="1" lang="es-419"/>
              <a:t>engagement</a:t>
            </a:r>
            <a:r>
              <a:rPr lang="es-419"/>
              <a:t>) de los jugadores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Monetización del juego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Mejorar la calidad visual de los juegos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Hacer jugadores virtuales de distintas dificultades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Elegir el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mejor thumbnail</a:t>
            </a:r>
            <a:r>
              <a:rPr lang="es-419"/>
              <a:t> para un video</a:t>
            </a:r>
            <a:endParaRPr/>
          </a:p>
        </p:txBody>
      </p:sp>
      <p:sp>
        <p:nvSpPr>
          <p:cNvPr id="288" name="Google Shape;288;p24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Gaming y Videos</a:t>
            </a:r>
            <a:endParaRPr/>
          </a:p>
        </p:txBody>
      </p:sp>
      <p:pic>
        <p:nvPicPr>
          <p:cNvPr id="289" name="Google Shape;289;p24"/>
          <p:cNvPicPr preferRelativeResize="0"/>
          <p:nvPr/>
        </p:nvPicPr>
        <p:blipFill rotWithShape="1">
          <a:blip r:embed="rId4">
            <a:alphaModFix/>
          </a:blip>
          <a:srcRect b="6134" l="0" r="48363" t="11736"/>
          <a:stretch/>
        </p:blipFill>
        <p:spPr>
          <a:xfrm>
            <a:off x="7177425" y="3272403"/>
            <a:ext cx="1827450" cy="1661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Proporcionar costos e inversiones óptimos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Minimizar riesgos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Descubrir nuevas fuentes de energía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Optimizar y eficientizar el abastecimiento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Maximizar extracción/generación</a:t>
            </a:r>
            <a:endParaRPr/>
          </a:p>
        </p:txBody>
      </p:sp>
      <p:sp>
        <p:nvSpPr>
          <p:cNvPr id="295" name="Google Shape;295;p25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Energía</a:t>
            </a:r>
            <a:endParaRPr/>
          </a:p>
        </p:txBody>
      </p:sp>
      <p:pic>
        <p:nvPicPr>
          <p:cNvPr id="296" name="Google Shape;296;p25"/>
          <p:cNvPicPr preferRelativeResize="0"/>
          <p:nvPr/>
        </p:nvPicPr>
        <p:blipFill rotWithShape="1">
          <a:blip r:embed="rId3">
            <a:alphaModFix/>
          </a:blip>
          <a:srcRect b="7740" l="15516" r="18568" t="28123"/>
          <a:stretch/>
        </p:blipFill>
        <p:spPr>
          <a:xfrm>
            <a:off x="6019325" y="3472550"/>
            <a:ext cx="3053025" cy="16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Crear perfiles de viajantes en base a redes sociales y otras fuentes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Optimización de rutas aéreas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Búsqueda de hospedajes, actividades, destinos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Optimización de costos</a:t>
            </a:r>
            <a:endParaRPr/>
          </a:p>
        </p:txBody>
      </p:sp>
      <p:sp>
        <p:nvSpPr>
          <p:cNvPr id="302" name="Google Shape;302;p26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Turismo</a:t>
            </a:r>
            <a:endParaRPr/>
          </a:p>
        </p:txBody>
      </p:sp>
      <p:pic>
        <p:nvPicPr>
          <p:cNvPr id="303" name="Google Shape;303;p26"/>
          <p:cNvPicPr preferRelativeResize="0"/>
          <p:nvPr/>
        </p:nvPicPr>
        <p:blipFill rotWithShape="1">
          <a:blip r:embed="rId3">
            <a:alphaModFix/>
          </a:blip>
          <a:srcRect b="5106" l="11078" r="66804" t="26148"/>
          <a:stretch/>
        </p:blipFill>
        <p:spPr>
          <a:xfrm>
            <a:off x="7606175" y="2877225"/>
            <a:ext cx="1325299" cy="231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419" u="sng">
                <a:solidFill>
                  <a:schemeClr val="hlink"/>
                </a:solidFill>
                <a:hlinkClick r:id="rId3"/>
              </a:rPr>
              <a:t>Detección de objetos</a:t>
            </a:r>
            <a:r>
              <a:rPr lang="es-419"/>
              <a:t> en imagen.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419"/>
              <a:t>Personas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419" u="sng">
                <a:solidFill>
                  <a:schemeClr val="hlink"/>
                </a:solidFill>
                <a:hlinkClick r:id="rId4"/>
              </a:rPr>
              <a:t>Fallas en tuberías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419" u="sng">
                <a:solidFill>
                  <a:schemeClr val="hlink"/>
                </a:solidFill>
                <a:hlinkClick r:id="rId5"/>
              </a:rPr>
              <a:t>Deteccion de humo o incendios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09" name="Google Shape;309;p27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Seguridad</a:t>
            </a:r>
            <a:endParaRPr/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1225" y="1836000"/>
            <a:ext cx="2782675" cy="33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Más y más aplicaciones</a:t>
            </a:r>
            <a:endParaRPr/>
          </a:p>
        </p:txBody>
      </p:sp>
      <p:pic>
        <p:nvPicPr>
          <p:cNvPr id="316" name="Google Shape;3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402" y="2953175"/>
            <a:ext cx="2486674" cy="19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0398" y="1643875"/>
            <a:ext cx="2168277" cy="12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7625" y="1666363"/>
            <a:ext cx="1827450" cy="12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2880" y="3198525"/>
            <a:ext cx="2235520" cy="1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450" y="1724989"/>
            <a:ext cx="2235526" cy="125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7725" y="3317861"/>
            <a:ext cx="2168276" cy="1627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/>
          <p:cNvPicPr preferRelativeResize="0"/>
          <p:nvPr/>
        </p:nvPicPr>
        <p:blipFill rotWithShape="1">
          <a:blip r:embed="rId9">
            <a:alphaModFix/>
          </a:blip>
          <a:srcRect b="0" l="0" r="0" t="18052"/>
          <a:stretch/>
        </p:blipFill>
        <p:spPr>
          <a:xfrm rot="125084">
            <a:off x="2554675" y="3816625"/>
            <a:ext cx="2098100" cy="10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/>
          <p:cNvPicPr preferRelativeResize="0"/>
          <p:nvPr/>
        </p:nvPicPr>
        <p:blipFill rotWithShape="1">
          <a:blip r:embed="rId10">
            <a:alphaModFix/>
          </a:blip>
          <a:srcRect b="15627" l="59311" r="3293" t="48114"/>
          <a:stretch/>
        </p:blipFill>
        <p:spPr>
          <a:xfrm>
            <a:off x="2282475" y="1532347"/>
            <a:ext cx="2642501" cy="144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¿Por qué ahora?        Uso de Internet</a:t>
            </a:r>
            <a:endParaRPr/>
          </a:p>
        </p:txBody>
      </p:sp>
      <p:pic>
        <p:nvPicPr>
          <p:cNvPr id="329" name="Google Shape;32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888" y="926400"/>
            <a:ext cx="5189231" cy="39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5"/>
          <p:cNvSpPr txBox="1"/>
          <p:nvPr/>
        </p:nvSpPr>
        <p:spPr>
          <a:xfrm>
            <a:off x="3939075" y="1075675"/>
            <a:ext cx="19545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(Terabit por segundo)</a:t>
            </a:r>
            <a:endParaRPr b="0" i="0" sz="800" u="none" cap="none" strike="noStrike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76657b1374_0_2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¿Por qué ahora?        </a:t>
            </a:r>
            <a:endParaRPr/>
          </a:p>
        </p:txBody>
      </p:sp>
      <p:pic>
        <p:nvPicPr>
          <p:cNvPr id="336" name="Google Shape;336;g276657b1374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2363" y="926400"/>
            <a:ext cx="4939280" cy="391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Metodología</a:t>
            </a:r>
            <a:endParaRPr/>
          </a:p>
        </p:txBody>
      </p:sp>
      <p:pic>
        <p:nvPicPr>
          <p:cNvPr id="342" name="Google Shape;342;p38"/>
          <p:cNvPicPr preferRelativeResize="0"/>
          <p:nvPr/>
        </p:nvPicPr>
        <p:blipFill rotWithShape="1">
          <a:blip r:embed="rId3">
            <a:alphaModFix/>
          </a:blip>
          <a:srcRect b="3714" l="6640" r="7677" t="24307"/>
          <a:stretch/>
        </p:blipFill>
        <p:spPr>
          <a:xfrm>
            <a:off x="110028" y="926400"/>
            <a:ext cx="8923955" cy="42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1e3d73b2bd_0_69"/>
          <p:cNvSpPr txBox="1"/>
          <p:nvPr>
            <p:ph type="title"/>
          </p:nvPr>
        </p:nvSpPr>
        <p:spPr>
          <a:xfrm>
            <a:off x="754200" y="375125"/>
            <a:ext cx="40839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Bibliografía</a:t>
            </a:r>
            <a:endParaRPr/>
          </a:p>
        </p:txBody>
      </p:sp>
      <p:pic>
        <p:nvPicPr>
          <p:cNvPr id="348" name="Google Shape;348;g11e3d73b2bd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000" y="1352625"/>
            <a:ext cx="26098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11e3d73b2bd_0_69"/>
          <p:cNvSpPr txBox="1"/>
          <p:nvPr/>
        </p:nvSpPr>
        <p:spPr>
          <a:xfrm>
            <a:off x="3617025" y="1352625"/>
            <a:ext cx="26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Aurélien Géron</a:t>
            </a:r>
            <a:endParaRPr b="0" i="0" sz="20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0" name="Google Shape;350;g11e3d73b2bd_0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7025" y="1845225"/>
            <a:ext cx="2612175" cy="319336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11e3d73b2bd_0_69"/>
          <p:cNvSpPr txBox="1"/>
          <p:nvPr/>
        </p:nvSpPr>
        <p:spPr>
          <a:xfrm>
            <a:off x="6227025" y="1088850"/>
            <a:ext cx="23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También en español</a:t>
            </a:r>
            <a:endParaRPr b="1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3e6365f39_0_4"/>
          <p:cNvSpPr txBox="1"/>
          <p:nvPr>
            <p:ph type="title"/>
          </p:nvPr>
        </p:nvSpPr>
        <p:spPr>
          <a:xfrm>
            <a:off x="754200" y="375125"/>
            <a:ext cx="40839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Bibliografía</a:t>
            </a:r>
            <a:endParaRPr/>
          </a:p>
        </p:txBody>
      </p:sp>
      <p:pic>
        <p:nvPicPr>
          <p:cNvPr id="357" name="Google Shape;357;g3f3e6365f39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00" y="1407100"/>
            <a:ext cx="2809875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f3e6365f39_0_4"/>
          <p:cNvSpPr txBox="1"/>
          <p:nvPr/>
        </p:nvSpPr>
        <p:spPr>
          <a:xfrm>
            <a:off x="3617025" y="1441675"/>
            <a:ext cx="4214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 u="sng">
                <a:solidFill>
                  <a:schemeClr val="hlink"/>
                </a:solidFill>
                <a:hlinkClick r:id="rId4"/>
              </a:rPr>
              <a:t>https://d2l.ai/</a:t>
            </a:r>
            <a:endParaRPr sz="2300"/>
          </a:p>
        </p:txBody>
      </p:sp>
      <p:pic>
        <p:nvPicPr>
          <p:cNvPr id="359" name="Google Shape;359;g3f3e6365f39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7025" y="2379571"/>
            <a:ext cx="5314201" cy="15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
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835dab4a7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2835dab4a7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2835dab4a7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2835dab4a7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835dab4a7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835dab4a7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2835dab4a7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2835dab4a7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835dab4a7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2835dab4a7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2835dab4a7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2835dab4a7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835dab4a7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2835dab4a7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2835dab4a7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2835dab4a7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2835dab4a7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2835dab4a7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2835dab4a7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2835dab4a7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2835dab4a7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2835dab4a7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835dab4a7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2835dab4a7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2835dab4a7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2835dab4a7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2835dab4a7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2835dab4a7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2835dab4a7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2835dab4a7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2835dab4a7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2835dab4a7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2835dab4a7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2835dab4a7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2835dab4a7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2835dab4a7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2835dab4a7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2835dab4a7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2835dab4a7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2835dab4a7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2835dab4a7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2835dab4a7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2835dab4a7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2835dab4a7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2835dab4a7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2835dab4a7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2835dab4a7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2835dab4a7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2835dab4a7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2835dab4a7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2835dab4a7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2835dab4a7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2835dab4a7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2835dab4a7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2835dab4a7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2835dab4a7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2835dab4a7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2835dab4a7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2835dab4a7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2835dab4a7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Conjunto MNIST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52450"/>
            <a:ext cx="3408875" cy="320485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686475" y="422150"/>
            <a:ext cx="4121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70000 pequeñas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imágenes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dígitos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manuscritos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Dibujados por estudiantes y empleados de la Oficina del Censo de los Estados Unidos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 lo conoce como el “Hola mundo” del aprendizaje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automático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por lo mucho que se ha usado y estudiado este dataset.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Conjunto MNIST: un 5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3226875" y="1781100"/>
            <a:ext cx="412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Cada imagen tiene 28x 28 pixeles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Cada pixel representa la intensidad de color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0: blanco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255: negro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738" y="1807950"/>
            <a:ext cx="275272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Clasificación: Binaria	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Entrenamos un clasificador que detecte: “5” o “no-5”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4936925" y="1807950"/>
            <a:ext cx="412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Stochastic Gradient Descent (SGD)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738" y="1807950"/>
            <a:ext cx="275272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7" y="1498872"/>
            <a:ext cx="3866725" cy="32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4250025" y="126642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Medimos la altura y peso de 3 personas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" name="Google Shape;123;p18"/>
          <p:cNvCxnSpPr/>
          <p:nvPr/>
        </p:nvCxnSpPr>
        <p:spPr>
          <a:xfrm flipH="1">
            <a:off x="1208975" y="1788725"/>
            <a:ext cx="2747700" cy="2368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8"/>
          <p:cNvSpPr txBox="1"/>
          <p:nvPr/>
        </p:nvSpPr>
        <p:spPr>
          <a:xfrm>
            <a:off x="4650700" y="1953300"/>
            <a:ext cx="412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Queremos encontrar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una recta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que parta el espacio en 2.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…¿Cómo en regresión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lineal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4736575" y="2840500"/>
            <a:ext cx="412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Ecuación a buscar: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Altura predicha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y + m*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peso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y: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intersección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al eje 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M: pendiente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7" y="1498872"/>
            <a:ext cx="3866725" cy="32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4357350" y="822825"/>
            <a:ext cx="412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Podemos usar el descenso por gradiente para encontrar el valor óptimo para la pendiente (m) y la intersección (y)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" name="Google Shape;133;p19"/>
          <p:cNvCxnSpPr/>
          <p:nvPr/>
        </p:nvCxnSpPr>
        <p:spPr>
          <a:xfrm flipH="1">
            <a:off x="1208975" y="1788725"/>
            <a:ext cx="2747700" cy="2368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9"/>
          <p:cNvSpPr txBox="1"/>
          <p:nvPr/>
        </p:nvSpPr>
        <p:spPr>
          <a:xfrm>
            <a:off x="4450375" y="1706450"/>
            <a:ext cx="432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momento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busquemos solo la intersección y usemos la pendiente que nos devuelve cuadrados mínimos: 0.64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4711200" y="259007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Altura predicha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y + 0.64 *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peso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6" name="Google Shape;136;p19"/>
          <p:cNvGrpSpPr/>
          <p:nvPr/>
        </p:nvGrpSpPr>
        <p:grpSpPr>
          <a:xfrm>
            <a:off x="557150" y="1241375"/>
            <a:ext cx="3399525" cy="3461050"/>
            <a:chOff x="557150" y="1241375"/>
            <a:chExt cx="3399525" cy="3461050"/>
          </a:xfrm>
        </p:grpSpPr>
        <p:cxnSp>
          <p:nvCxnSpPr>
            <p:cNvPr id="137" name="Google Shape;137;p19"/>
            <p:cNvCxnSpPr/>
            <p:nvPr/>
          </p:nvCxnSpPr>
          <p:spPr>
            <a:xfrm flipH="1">
              <a:off x="1017950" y="2248775"/>
              <a:ext cx="2747700" cy="2368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19"/>
            <p:cNvCxnSpPr/>
            <p:nvPr/>
          </p:nvCxnSpPr>
          <p:spPr>
            <a:xfrm flipH="1">
              <a:off x="683800" y="1850250"/>
              <a:ext cx="2747700" cy="2368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19"/>
            <p:cNvCxnSpPr/>
            <p:nvPr/>
          </p:nvCxnSpPr>
          <p:spPr>
            <a:xfrm flipH="1">
              <a:off x="557150" y="1563275"/>
              <a:ext cx="2747700" cy="2368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19"/>
            <p:cNvCxnSpPr/>
            <p:nvPr/>
          </p:nvCxnSpPr>
          <p:spPr>
            <a:xfrm flipH="1">
              <a:off x="1208975" y="2333925"/>
              <a:ext cx="2747700" cy="2368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19"/>
            <p:cNvCxnSpPr/>
            <p:nvPr/>
          </p:nvCxnSpPr>
          <p:spPr>
            <a:xfrm flipH="1">
              <a:off x="557150" y="1241375"/>
              <a:ext cx="2747700" cy="2368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142" name="Google Shape;142;p19"/>
          <p:cNvSpPr txBox="1"/>
          <p:nvPr/>
        </p:nvSpPr>
        <p:spPr>
          <a:xfrm>
            <a:off x="4450375" y="316962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¿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Cuál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es la mejor recta de pendiente m?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" name="Google Shape;143;p19"/>
          <p:cNvCxnSpPr>
            <a:stCxn id="142" idx="1"/>
          </p:cNvCxnSpPr>
          <p:nvPr/>
        </p:nvCxnSpPr>
        <p:spPr>
          <a:xfrm rot="10800000">
            <a:off x="3520375" y="2818925"/>
            <a:ext cx="930000" cy="55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7" y="1498872"/>
            <a:ext cx="3866725" cy="32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4478975" y="758425"/>
            <a:ext cx="412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Paso 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 tomamos un valor aleatorio para y, en este caso 0.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" name="Google Shape;151;p20"/>
          <p:cNvCxnSpPr/>
          <p:nvPr/>
        </p:nvCxnSpPr>
        <p:spPr>
          <a:xfrm flipH="1">
            <a:off x="1208975" y="1788725"/>
            <a:ext cx="2747700" cy="2368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2" name="Google Shape;152;p20"/>
          <p:cNvGrpSpPr/>
          <p:nvPr/>
        </p:nvGrpSpPr>
        <p:grpSpPr>
          <a:xfrm>
            <a:off x="1674250" y="2198700"/>
            <a:ext cx="1533300" cy="1557625"/>
            <a:chOff x="1674250" y="2198700"/>
            <a:chExt cx="1533300" cy="1557625"/>
          </a:xfrm>
        </p:grpSpPr>
        <p:cxnSp>
          <p:nvCxnSpPr>
            <p:cNvPr id="153" name="Google Shape;153;p20"/>
            <p:cNvCxnSpPr/>
            <p:nvPr/>
          </p:nvCxnSpPr>
          <p:spPr>
            <a:xfrm>
              <a:off x="1674250" y="3284125"/>
              <a:ext cx="0" cy="47220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20"/>
            <p:cNvCxnSpPr/>
            <p:nvPr/>
          </p:nvCxnSpPr>
          <p:spPr>
            <a:xfrm>
              <a:off x="3207550" y="2198700"/>
              <a:ext cx="0" cy="29850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20"/>
            <p:cNvCxnSpPr/>
            <p:nvPr/>
          </p:nvCxnSpPr>
          <p:spPr>
            <a:xfrm>
              <a:off x="2873400" y="2737450"/>
              <a:ext cx="0" cy="11010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6" name="Google Shape;156;p20"/>
          <p:cNvGrpSpPr/>
          <p:nvPr/>
        </p:nvGrpSpPr>
        <p:grpSpPr>
          <a:xfrm>
            <a:off x="1731650" y="2218125"/>
            <a:ext cx="3269700" cy="1352100"/>
            <a:chOff x="1731650" y="2218125"/>
            <a:chExt cx="3269700" cy="1352100"/>
          </a:xfrm>
        </p:grpSpPr>
        <p:sp>
          <p:nvSpPr>
            <p:cNvPr id="157" name="Google Shape;157;p20"/>
            <p:cNvSpPr txBox="1"/>
            <p:nvPr/>
          </p:nvSpPr>
          <p:spPr>
            <a:xfrm>
              <a:off x="3899450" y="2489925"/>
              <a:ext cx="110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Residuos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8" name="Google Shape;158;p20"/>
            <p:cNvGrpSpPr/>
            <p:nvPr/>
          </p:nvGrpSpPr>
          <p:grpSpPr>
            <a:xfrm>
              <a:off x="1731650" y="2218125"/>
              <a:ext cx="2167800" cy="1352100"/>
              <a:chOff x="1731650" y="2218125"/>
              <a:chExt cx="2167800" cy="1352100"/>
            </a:xfrm>
          </p:grpSpPr>
          <p:cxnSp>
            <p:nvCxnSpPr>
              <p:cNvPr id="159" name="Google Shape;159;p20"/>
              <p:cNvCxnSpPr>
                <a:stCxn id="157" idx="1"/>
              </p:cNvCxnSpPr>
              <p:nvPr/>
            </p:nvCxnSpPr>
            <p:spPr>
              <a:xfrm rot="10800000">
                <a:off x="3205550" y="2218125"/>
                <a:ext cx="693900" cy="47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60" name="Google Shape;160;p20"/>
              <p:cNvCxnSpPr>
                <a:stCxn id="157" idx="1"/>
              </p:cNvCxnSpPr>
              <p:nvPr/>
            </p:nvCxnSpPr>
            <p:spPr>
              <a:xfrm flipH="1">
                <a:off x="1731650" y="2690025"/>
                <a:ext cx="2167800" cy="880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61" name="Google Shape;161;p20"/>
              <p:cNvCxnSpPr>
                <a:stCxn id="157" idx="1"/>
              </p:cNvCxnSpPr>
              <p:nvPr/>
            </p:nvCxnSpPr>
            <p:spPr>
              <a:xfrm flipH="1">
                <a:off x="2947850" y="2690025"/>
                <a:ext cx="951600" cy="100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162" name="Google Shape;162;p20"/>
          <p:cNvSpPr txBox="1"/>
          <p:nvPr/>
        </p:nvSpPr>
        <p:spPr>
          <a:xfrm>
            <a:off x="4614925" y="1452450"/>
            <a:ext cx="412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Función de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pérdida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(Loss) =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Suma de los cuadrados de los residuos =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(Peso observado - Peso predicho)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endParaRPr baseline="30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051375" y="2499150"/>
            <a:ext cx="4028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 función de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pérdida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podría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ser otra.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Es una forma que utilizaremos para entender que tan bien se ajusta el modelo a los datos.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Pero es indispensable definirla, para poder ir mejorando de forma iterativa. Paso a paso.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7" y="1498872"/>
            <a:ext cx="3866725" cy="324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/>
        </p:nvSpPr>
        <p:spPr>
          <a:xfrm>
            <a:off x="4307250" y="1101875"/>
            <a:ext cx="412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 = 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m= 0.64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" name="Google Shape;171;p21"/>
          <p:cNvCxnSpPr/>
          <p:nvPr/>
        </p:nvCxnSpPr>
        <p:spPr>
          <a:xfrm flipH="1">
            <a:off x="1208975" y="1788725"/>
            <a:ext cx="2747700" cy="2368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1"/>
          <p:cNvSpPr txBox="1"/>
          <p:nvPr/>
        </p:nvSpPr>
        <p:spPr>
          <a:xfrm>
            <a:off x="4307250" y="171747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¿Cúal es la función de error?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4622075" y="2225175"/>
            <a:ext cx="4121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Loss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=(1.4 - 0.64 * 0.5)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                   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(1.9 - 0.64 * 2.3)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</a:t>
            </a:r>
            <a:endParaRPr baseline="30000"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(3.2 - 0.64 * 2.9)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1.1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+ 0.4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+ 1.3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3.1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4" name="Google Shape;174;p21"/>
          <p:cNvGrpSpPr/>
          <p:nvPr/>
        </p:nvGrpSpPr>
        <p:grpSpPr>
          <a:xfrm>
            <a:off x="1273575" y="2203725"/>
            <a:ext cx="5709600" cy="2506325"/>
            <a:chOff x="1273575" y="2203725"/>
            <a:chExt cx="5709600" cy="2506325"/>
          </a:xfrm>
        </p:grpSpPr>
        <p:sp>
          <p:nvSpPr>
            <p:cNvPr id="175" name="Google Shape;175;p21"/>
            <p:cNvSpPr txBox="1"/>
            <p:nvPr/>
          </p:nvSpPr>
          <p:spPr>
            <a:xfrm>
              <a:off x="1273575" y="4309850"/>
              <a:ext cx="57096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   0.5                        2.3   2.9 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6" name="Google Shape;176;p21"/>
            <p:cNvGrpSpPr/>
            <p:nvPr/>
          </p:nvGrpSpPr>
          <p:grpSpPr>
            <a:xfrm>
              <a:off x="1681400" y="2203725"/>
              <a:ext cx="1538325" cy="1967700"/>
              <a:chOff x="1681400" y="2203725"/>
              <a:chExt cx="1538325" cy="1967700"/>
            </a:xfrm>
          </p:grpSpPr>
          <p:cxnSp>
            <p:nvCxnSpPr>
              <p:cNvPr id="177" name="Google Shape;177;p21"/>
              <p:cNvCxnSpPr/>
              <p:nvPr/>
            </p:nvCxnSpPr>
            <p:spPr>
              <a:xfrm>
                <a:off x="1681400" y="3305575"/>
                <a:ext cx="0" cy="865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" name="Google Shape;178;p21"/>
              <p:cNvCxnSpPr/>
              <p:nvPr/>
            </p:nvCxnSpPr>
            <p:spPr>
              <a:xfrm>
                <a:off x="2861975" y="3083775"/>
                <a:ext cx="0" cy="1087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21"/>
              <p:cNvCxnSpPr/>
              <p:nvPr/>
            </p:nvCxnSpPr>
            <p:spPr>
              <a:xfrm>
                <a:off x="3219725" y="2203725"/>
                <a:ext cx="0" cy="1967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80" name="Google Shape;180;p21"/>
          <p:cNvGrpSpPr/>
          <p:nvPr/>
        </p:nvGrpSpPr>
        <p:grpSpPr>
          <a:xfrm>
            <a:off x="236129" y="1917525"/>
            <a:ext cx="2821204" cy="2339700"/>
            <a:chOff x="393525" y="1917525"/>
            <a:chExt cx="2663775" cy="2339700"/>
          </a:xfrm>
        </p:grpSpPr>
        <p:grpSp>
          <p:nvGrpSpPr>
            <p:cNvPr id="181" name="Google Shape;181;p21"/>
            <p:cNvGrpSpPr/>
            <p:nvPr/>
          </p:nvGrpSpPr>
          <p:grpSpPr>
            <a:xfrm>
              <a:off x="1209325" y="2111738"/>
              <a:ext cx="1847975" cy="1100838"/>
              <a:chOff x="1209325" y="2111738"/>
              <a:chExt cx="1847975" cy="1100838"/>
            </a:xfrm>
          </p:grpSpPr>
          <p:cxnSp>
            <p:nvCxnSpPr>
              <p:cNvPr id="182" name="Google Shape;182;p21"/>
              <p:cNvCxnSpPr/>
              <p:nvPr/>
            </p:nvCxnSpPr>
            <p:spPr>
              <a:xfrm rot="10800000">
                <a:off x="1230725" y="3212575"/>
                <a:ext cx="3219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" name="Google Shape;183;p21"/>
              <p:cNvCxnSpPr/>
              <p:nvPr/>
            </p:nvCxnSpPr>
            <p:spPr>
              <a:xfrm flipH="1">
                <a:off x="1209325" y="2976450"/>
                <a:ext cx="1595400" cy="69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" name="Google Shape;184;p21"/>
              <p:cNvCxnSpPr/>
              <p:nvPr/>
            </p:nvCxnSpPr>
            <p:spPr>
              <a:xfrm flipH="1">
                <a:off x="1245000" y="2111738"/>
                <a:ext cx="1812300" cy="20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5" name="Google Shape;185;p21"/>
            <p:cNvSpPr txBox="1"/>
            <p:nvPr/>
          </p:nvSpPr>
          <p:spPr>
            <a:xfrm>
              <a:off x="393525" y="1917525"/>
              <a:ext cx="701100" cy="2339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3.2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1.9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1.4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7" y="1498872"/>
            <a:ext cx="3866725" cy="3246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22"/>
          <p:cNvCxnSpPr/>
          <p:nvPr/>
        </p:nvCxnSpPr>
        <p:spPr>
          <a:xfrm flipH="1">
            <a:off x="1208975" y="1788725"/>
            <a:ext cx="2747700" cy="2368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2"/>
          <p:cNvSpPr txBox="1"/>
          <p:nvPr/>
        </p:nvSpPr>
        <p:spPr>
          <a:xfrm>
            <a:off x="486525" y="1058238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Loss = 1.1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+ 0.4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+ 1.3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3.1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4" name="Google Shape;194;p22"/>
          <p:cNvGrpSpPr/>
          <p:nvPr/>
        </p:nvGrpSpPr>
        <p:grpSpPr>
          <a:xfrm>
            <a:off x="1273575" y="2203725"/>
            <a:ext cx="5709600" cy="2506325"/>
            <a:chOff x="1273575" y="2203725"/>
            <a:chExt cx="5709600" cy="2506325"/>
          </a:xfrm>
        </p:grpSpPr>
        <p:sp>
          <p:nvSpPr>
            <p:cNvPr id="195" name="Google Shape;195;p22"/>
            <p:cNvSpPr txBox="1"/>
            <p:nvPr/>
          </p:nvSpPr>
          <p:spPr>
            <a:xfrm>
              <a:off x="1273575" y="4309850"/>
              <a:ext cx="57096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   0.5                        2.3   2.9 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96" name="Google Shape;196;p22"/>
            <p:cNvGrpSpPr/>
            <p:nvPr/>
          </p:nvGrpSpPr>
          <p:grpSpPr>
            <a:xfrm>
              <a:off x="1681400" y="2203725"/>
              <a:ext cx="1538325" cy="1967700"/>
              <a:chOff x="1681400" y="2203725"/>
              <a:chExt cx="1538325" cy="1967700"/>
            </a:xfrm>
          </p:grpSpPr>
          <p:cxnSp>
            <p:nvCxnSpPr>
              <p:cNvPr id="197" name="Google Shape;197;p22"/>
              <p:cNvCxnSpPr/>
              <p:nvPr/>
            </p:nvCxnSpPr>
            <p:spPr>
              <a:xfrm>
                <a:off x="1681400" y="3305575"/>
                <a:ext cx="0" cy="8658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8" name="Google Shape;198;p22"/>
              <p:cNvCxnSpPr/>
              <p:nvPr/>
            </p:nvCxnSpPr>
            <p:spPr>
              <a:xfrm>
                <a:off x="2861975" y="3083775"/>
                <a:ext cx="0" cy="1087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" name="Google Shape;199;p22"/>
              <p:cNvCxnSpPr/>
              <p:nvPr/>
            </p:nvCxnSpPr>
            <p:spPr>
              <a:xfrm>
                <a:off x="3219725" y="2203725"/>
                <a:ext cx="0" cy="1967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00" name="Google Shape;200;p22"/>
          <p:cNvGrpSpPr/>
          <p:nvPr/>
        </p:nvGrpSpPr>
        <p:grpSpPr>
          <a:xfrm>
            <a:off x="236129" y="1917525"/>
            <a:ext cx="2821204" cy="2339700"/>
            <a:chOff x="393525" y="1917525"/>
            <a:chExt cx="2663775" cy="2339700"/>
          </a:xfrm>
        </p:grpSpPr>
        <p:grpSp>
          <p:nvGrpSpPr>
            <p:cNvPr id="201" name="Google Shape;201;p22"/>
            <p:cNvGrpSpPr/>
            <p:nvPr/>
          </p:nvGrpSpPr>
          <p:grpSpPr>
            <a:xfrm>
              <a:off x="1209325" y="2111738"/>
              <a:ext cx="1847975" cy="1100838"/>
              <a:chOff x="1209325" y="2111738"/>
              <a:chExt cx="1847975" cy="1100838"/>
            </a:xfrm>
          </p:grpSpPr>
          <p:cxnSp>
            <p:nvCxnSpPr>
              <p:cNvPr id="202" name="Google Shape;202;p22"/>
              <p:cNvCxnSpPr/>
              <p:nvPr/>
            </p:nvCxnSpPr>
            <p:spPr>
              <a:xfrm rot="10800000">
                <a:off x="1230725" y="3212575"/>
                <a:ext cx="3219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" name="Google Shape;203;p22"/>
              <p:cNvCxnSpPr/>
              <p:nvPr/>
            </p:nvCxnSpPr>
            <p:spPr>
              <a:xfrm flipH="1">
                <a:off x="1209325" y="2976450"/>
                <a:ext cx="1595400" cy="69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" name="Google Shape;204;p22"/>
              <p:cNvCxnSpPr/>
              <p:nvPr/>
            </p:nvCxnSpPr>
            <p:spPr>
              <a:xfrm flipH="1">
                <a:off x="1245000" y="2111738"/>
                <a:ext cx="1812300" cy="20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5" name="Google Shape;205;p22"/>
            <p:cNvSpPr txBox="1"/>
            <p:nvPr/>
          </p:nvSpPr>
          <p:spPr>
            <a:xfrm>
              <a:off x="393525" y="1917525"/>
              <a:ext cx="701100" cy="2339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3.2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1.9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1.4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06" name="Google Shape;20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2175" y="1510062"/>
            <a:ext cx="3443875" cy="292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3956675" y="883275"/>
            <a:ext cx="411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Grafiquemos la función de error, en función de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es decir la intersección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13" name="Google Shape;213;p23"/>
          <p:cNvSpPr txBox="1"/>
          <p:nvPr/>
        </p:nvSpPr>
        <p:spPr>
          <a:xfrm>
            <a:off x="486525" y="1058238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Loss = 1.1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+ 0.4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+ 1.3</a:t>
            </a:r>
            <a:r>
              <a:rPr baseline="30000" lang="en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3.1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3956675" y="883275"/>
            <a:ext cx="411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Grafiquemos la función de error, en función de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es decir la intersección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875" y="1647300"/>
            <a:ext cx="5952089" cy="290734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4629250" y="163132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para la recta, con y = 2.5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679325" y="2912050"/>
            <a:ext cx="7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endParaRPr b="1" i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" name="Google Shape;219;p23"/>
          <p:cNvCxnSpPr>
            <a:stCxn id="217" idx="1"/>
          </p:cNvCxnSpPr>
          <p:nvPr/>
        </p:nvCxnSpPr>
        <p:spPr>
          <a:xfrm flipH="1">
            <a:off x="3885250" y="1831425"/>
            <a:ext cx="744000" cy="9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300" y="1442238"/>
            <a:ext cx="6237759" cy="33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26" name="Google Shape;226;p24"/>
          <p:cNvSpPr txBox="1"/>
          <p:nvPr/>
        </p:nvSpPr>
        <p:spPr>
          <a:xfrm>
            <a:off x="3956675" y="883275"/>
            <a:ext cx="41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Graficamos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para otros valores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2940700" y="168142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Función de error para distintos valores de 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4679325" y="2912050"/>
            <a:ext cx="7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endParaRPr b="1"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300" y="1442238"/>
            <a:ext cx="6237759" cy="33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36" name="Google Shape;236;p25"/>
          <p:cNvSpPr txBox="1"/>
          <p:nvPr/>
        </p:nvSpPr>
        <p:spPr>
          <a:xfrm>
            <a:off x="3956675" y="883275"/>
            <a:ext cx="41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Graficamos para otros valores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2940700" y="168142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Función de error para distintos valores de 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5"/>
          <p:cNvSpPr txBox="1"/>
          <p:nvPr/>
        </p:nvSpPr>
        <p:spPr>
          <a:xfrm>
            <a:off x="4679325" y="2912050"/>
            <a:ext cx="7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endParaRPr b="1" i="1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0" name="Google Shape;240;p25"/>
          <p:cNvGrpSpPr/>
          <p:nvPr/>
        </p:nvGrpSpPr>
        <p:grpSpPr>
          <a:xfrm>
            <a:off x="6038750" y="2017700"/>
            <a:ext cx="3119600" cy="1924825"/>
            <a:chOff x="6038750" y="2017700"/>
            <a:chExt cx="3119600" cy="1924825"/>
          </a:xfrm>
        </p:grpSpPr>
        <p:sp>
          <p:nvSpPr>
            <p:cNvPr id="241" name="Google Shape;241;p25"/>
            <p:cNvSpPr/>
            <p:nvPr/>
          </p:nvSpPr>
          <p:spPr>
            <a:xfrm>
              <a:off x="6038750" y="3677625"/>
              <a:ext cx="279000" cy="264900"/>
            </a:xfrm>
            <a:prstGeom prst="ellipse">
              <a:avLst/>
            </a:prstGeom>
            <a:noFill/>
            <a:ln cap="flat" cmpd="sng" w="19050">
              <a:solidFill>
                <a:srgbClr val="0000F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5"/>
            <p:cNvSpPr txBox="1"/>
            <p:nvPr/>
          </p:nvSpPr>
          <p:spPr>
            <a:xfrm>
              <a:off x="7247950" y="2017700"/>
              <a:ext cx="1910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Claramente este tiene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El menor </a:t>
              </a:r>
              <a:r>
                <a:rPr b="1" i="1" lang="en">
                  <a:latin typeface="Roboto"/>
                  <a:ea typeface="Roboto"/>
                  <a:cs typeface="Roboto"/>
                  <a:sym typeface="Roboto"/>
                </a:rPr>
                <a:t>Loss</a:t>
              </a: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 (es decir el menor error)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3" name="Google Shape;243;p25"/>
            <p:cNvCxnSpPr>
              <a:stCxn id="242" idx="2"/>
              <a:endCxn id="241" idx="6"/>
            </p:cNvCxnSpPr>
            <p:nvPr/>
          </p:nvCxnSpPr>
          <p:spPr>
            <a:xfrm flipH="1">
              <a:off x="6317650" y="2849000"/>
              <a:ext cx="1885500" cy="96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44" name="Google Shape;244;p25"/>
          <p:cNvSpPr txBox="1"/>
          <p:nvPr/>
        </p:nvSpPr>
        <p:spPr>
          <a:xfrm>
            <a:off x="450900" y="4414575"/>
            <a:ext cx="78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¿Pero si hay uno menor que no graficamos? Por ejemplo acá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5" name="Google Shape;245;p25"/>
          <p:cNvCxnSpPr>
            <a:stCxn id="244" idx="0"/>
          </p:cNvCxnSpPr>
          <p:nvPr/>
        </p:nvCxnSpPr>
        <p:spPr>
          <a:xfrm flipH="1" rot="10800000">
            <a:off x="4396800" y="3913875"/>
            <a:ext cx="1491600" cy="50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51" name="Google Shape;251;p26"/>
          <p:cNvSpPr txBox="1"/>
          <p:nvPr/>
        </p:nvSpPr>
        <p:spPr>
          <a:xfrm>
            <a:off x="450900" y="883275"/>
            <a:ext cx="76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 evitar graficar punto por punto, simplemente buscamos la ecuación de la curva de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3" name="Google Shape;2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925" y="1244950"/>
            <a:ext cx="4012175" cy="79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49" y="2218024"/>
            <a:ext cx="3251376" cy="2649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p26"/>
          <p:cNvCxnSpPr/>
          <p:nvPr/>
        </p:nvCxnSpPr>
        <p:spPr>
          <a:xfrm flipH="1">
            <a:off x="901597" y="2454537"/>
            <a:ext cx="2310300" cy="1932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6"/>
          <p:cNvSpPr txBox="1"/>
          <p:nvPr/>
        </p:nvSpPr>
        <p:spPr>
          <a:xfrm>
            <a:off x="3541800" y="1672700"/>
            <a:ext cx="2339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Poniendo distintos valores de y, en “intercept” podemos graficar la curva: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7" name="Google Shape;25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1500" y="2182038"/>
            <a:ext cx="3056574" cy="262067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6"/>
          <p:cNvSpPr txBox="1"/>
          <p:nvPr/>
        </p:nvSpPr>
        <p:spPr>
          <a:xfrm>
            <a:off x="3742025" y="2890600"/>
            <a:ext cx="2504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 si tenemos la función, podemos calcular la derivada en un punto y ver en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dirección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crece, y en cual decrece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" name="Google Shape;259;p26"/>
          <p:cNvCxnSpPr/>
          <p:nvPr/>
        </p:nvCxnSpPr>
        <p:spPr>
          <a:xfrm>
            <a:off x="6596850" y="2396925"/>
            <a:ext cx="651000" cy="1338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65" name="Google Shape;265;p27"/>
          <p:cNvSpPr txBox="1"/>
          <p:nvPr/>
        </p:nvSpPr>
        <p:spPr>
          <a:xfrm>
            <a:off x="450900" y="883275"/>
            <a:ext cx="76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 evitar graficar punto por punto, simplemente buscamos la ecuación de la curva de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7" name="Google Shape;2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925" y="1244950"/>
            <a:ext cx="4012175" cy="79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900" y="2168700"/>
            <a:ext cx="3835026" cy="1485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7"/>
          <p:cNvGrpSpPr/>
          <p:nvPr/>
        </p:nvGrpSpPr>
        <p:grpSpPr>
          <a:xfrm>
            <a:off x="164825" y="3654025"/>
            <a:ext cx="4121100" cy="960425"/>
            <a:chOff x="164825" y="3654025"/>
            <a:chExt cx="4121100" cy="960425"/>
          </a:xfrm>
        </p:grpSpPr>
        <p:sp>
          <p:nvSpPr>
            <p:cNvPr id="270" name="Google Shape;270;p27"/>
            <p:cNvSpPr txBox="1"/>
            <p:nvPr/>
          </p:nvSpPr>
          <p:spPr>
            <a:xfrm>
              <a:off x="164825" y="4214250"/>
              <a:ext cx="4121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Cómo nuestro y inicial fue cero (0). Ponemos 0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71" name="Google Shape;271;p27"/>
            <p:cNvCxnSpPr>
              <a:endCxn id="268" idx="2"/>
            </p:cNvCxnSpPr>
            <p:nvPr/>
          </p:nvCxnSpPr>
          <p:spPr>
            <a:xfrm flipH="1" rot="10800000">
              <a:off x="2225313" y="3654025"/>
              <a:ext cx="143100" cy="560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72" name="Google Shape;272;p27"/>
          <p:cNvSpPr txBox="1"/>
          <p:nvPr/>
        </p:nvSpPr>
        <p:spPr>
          <a:xfrm>
            <a:off x="4350200" y="4214250"/>
            <a:ext cx="6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288" y="1863450"/>
            <a:ext cx="3656175" cy="1739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4285926" y="2482750"/>
            <a:ext cx="4872249" cy="831300"/>
            <a:chOff x="4285926" y="2482750"/>
            <a:chExt cx="4872249" cy="831300"/>
          </a:xfrm>
        </p:grpSpPr>
        <p:cxnSp>
          <p:nvCxnSpPr>
            <p:cNvPr id="275" name="Google Shape;275;p27"/>
            <p:cNvCxnSpPr>
              <a:stCxn id="268" idx="3"/>
            </p:cNvCxnSpPr>
            <p:nvPr/>
          </p:nvCxnSpPr>
          <p:spPr>
            <a:xfrm flipH="1" rot="10800000">
              <a:off x="4285926" y="2804863"/>
              <a:ext cx="1352100" cy="106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6" name="Google Shape;276;p27"/>
            <p:cNvSpPr txBox="1"/>
            <p:nvPr/>
          </p:nvSpPr>
          <p:spPr>
            <a:xfrm>
              <a:off x="5752575" y="2482750"/>
              <a:ext cx="3405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Crece hacia donde y es negativo, pero como queremos decrecer, tenemos que “movernos” en la </a:t>
              </a: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dirección opuesta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82" name="Google Shape;282;p28"/>
          <p:cNvSpPr txBox="1"/>
          <p:nvPr/>
        </p:nvSpPr>
        <p:spPr>
          <a:xfrm>
            <a:off x="450900" y="883275"/>
            <a:ext cx="76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 evitar graficar punto por punto, simplemente buscamos la ecuación de la curva de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8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28"/>
          <p:cNvSpPr txBox="1"/>
          <p:nvPr/>
        </p:nvSpPr>
        <p:spPr>
          <a:xfrm>
            <a:off x="4350200" y="4214250"/>
            <a:ext cx="6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5" name="Google Shape;28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622912"/>
            <a:ext cx="3656175" cy="173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7175" y="1306900"/>
            <a:ext cx="3545128" cy="29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8"/>
          <p:cNvSpPr txBox="1"/>
          <p:nvPr/>
        </p:nvSpPr>
        <p:spPr>
          <a:xfrm>
            <a:off x="2032000" y="3967075"/>
            <a:ext cx="41211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¡Pero debemos movernos con cuidado, si nos vamos mucho en la dirección opuesta,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también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crece!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93" name="Google Shape;293;p29"/>
          <p:cNvSpPr txBox="1"/>
          <p:nvPr/>
        </p:nvSpPr>
        <p:spPr>
          <a:xfrm>
            <a:off x="450900" y="883275"/>
            <a:ext cx="76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 evitar graficar punto por punto, simplemente buscamos la ecuación de la curva de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29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29"/>
          <p:cNvSpPr txBox="1"/>
          <p:nvPr/>
        </p:nvSpPr>
        <p:spPr>
          <a:xfrm>
            <a:off x="4350200" y="4214250"/>
            <a:ext cx="6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6" name="Google Shape;2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13" y="1298200"/>
            <a:ext cx="3656175" cy="173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9"/>
          <p:cNvSpPr txBox="1"/>
          <p:nvPr/>
        </p:nvSpPr>
        <p:spPr>
          <a:xfrm>
            <a:off x="3470100" y="1363000"/>
            <a:ext cx="5673900" cy="615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Definimos un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parámetro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llamado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learning rate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entre 0 y 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Este nos dirá cuanto movernos en la dirección de decrecimiento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128800" y="4335875"/>
            <a:ext cx="4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3620400" y="2182250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Learning rate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= 0.1 (un valor estandar)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 txBox="1"/>
          <p:nvPr/>
        </p:nvSpPr>
        <p:spPr>
          <a:xfrm>
            <a:off x="3620400" y="2685250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Tamaño del paso a dar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= 0.1 * -5.7 = -0.57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3731475" y="3198250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Nuevo y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= 0 - (-0.57) ) = 0.57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07" name="Google Shape;307;p30"/>
          <p:cNvSpPr txBox="1"/>
          <p:nvPr/>
        </p:nvSpPr>
        <p:spPr>
          <a:xfrm>
            <a:off x="450900" y="883275"/>
            <a:ext cx="76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 evitar graficar punto por punto, simplemente buscamos la ecuación de la curva de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0"/>
          <p:cNvSpPr txBox="1"/>
          <p:nvPr/>
        </p:nvSpPr>
        <p:spPr>
          <a:xfrm>
            <a:off x="4350200" y="4214250"/>
            <a:ext cx="6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0" name="Google Shape;3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13" y="1298200"/>
            <a:ext cx="3656175" cy="173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0"/>
          <p:cNvSpPr txBox="1"/>
          <p:nvPr/>
        </p:nvSpPr>
        <p:spPr>
          <a:xfrm>
            <a:off x="3470100" y="1363000"/>
            <a:ext cx="5673900" cy="615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Definimos un parámetro, llamado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learning rate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entre 0 y 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Este nos dirá cuanto movernos en la dirección de decrecimiento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128800" y="4335875"/>
            <a:ext cx="4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128800" y="3188250"/>
            <a:ext cx="279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Nuevo y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= 0 - (-0.57) ) = 0.57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3375" y="2016525"/>
            <a:ext cx="3322511" cy="286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p30"/>
          <p:cNvGrpSpPr/>
          <p:nvPr/>
        </p:nvGrpSpPr>
        <p:grpSpPr>
          <a:xfrm>
            <a:off x="2346825" y="4013925"/>
            <a:ext cx="5001300" cy="400200"/>
            <a:chOff x="2346825" y="4013925"/>
            <a:chExt cx="5001300" cy="400200"/>
          </a:xfrm>
        </p:grpSpPr>
        <p:sp>
          <p:nvSpPr>
            <p:cNvPr id="316" name="Google Shape;316;p30"/>
            <p:cNvSpPr txBox="1"/>
            <p:nvPr/>
          </p:nvSpPr>
          <p:spPr>
            <a:xfrm>
              <a:off x="2346825" y="4013925"/>
              <a:ext cx="2583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Nos acercamos al mínimo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317" name="Google Shape;317;p30"/>
            <p:cNvCxnSpPr>
              <a:stCxn id="316" idx="3"/>
            </p:cNvCxnSpPr>
            <p:nvPr/>
          </p:nvCxnSpPr>
          <p:spPr>
            <a:xfrm>
              <a:off x="4929825" y="4214025"/>
              <a:ext cx="2418300" cy="186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Descent (GD)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23" name="Google Shape;323;p31"/>
          <p:cNvSpPr txBox="1"/>
          <p:nvPr/>
        </p:nvSpPr>
        <p:spPr>
          <a:xfrm>
            <a:off x="450900" y="883275"/>
            <a:ext cx="762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Para evitar graficar punto por punto, simplemente buscamos la ecuación de la curva de 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3319875" y="1531150"/>
            <a:ext cx="213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4350200" y="4214250"/>
            <a:ext cx="62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128800" y="4335875"/>
            <a:ext cx="4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7" name="Google Shape;32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4200" y="1436625"/>
            <a:ext cx="3387226" cy="295644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1"/>
          <p:cNvSpPr txBox="1"/>
          <p:nvPr/>
        </p:nvSpPr>
        <p:spPr>
          <a:xfrm>
            <a:off x="601025" y="1430975"/>
            <a:ext cx="4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Iteramos n veces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736950" y="1981925"/>
            <a:ext cx="4121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¿Cuándo se detiene?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Cuando se llega al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límite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de pasos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Cuando la derivada es muy cercana a cero o cero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Gradient Descent (SGD)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</a:t>
            </a:r>
            <a:r>
              <a:rPr lang="en"/>
              <a:t>Gradient Descent (SGD)</a:t>
            </a:r>
            <a:endParaRPr/>
          </a:p>
        </p:txBody>
      </p:sp>
      <p:sp>
        <p:nvSpPr>
          <p:cNvPr id="340" name="Google Shape;340;p3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 muy lento si tenemos muchos datos o muchas variables.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 tenemos N ejemplos, o casos, nos quedan n </a:t>
            </a:r>
            <a:r>
              <a:rPr lang="en"/>
              <a:t>términos</a:t>
            </a:r>
            <a:r>
              <a:rPr lang="en"/>
              <a:t> en la derivada para calcular.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Además</a:t>
            </a:r>
            <a:r>
              <a:rPr lang="en"/>
              <a:t> en este caso </a:t>
            </a:r>
            <a:r>
              <a:rPr lang="en"/>
              <a:t>teníamos</a:t>
            </a:r>
            <a:r>
              <a:rPr lang="en"/>
              <a:t> una sola variable a calcular, pero si tuviese n, </a:t>
            </a:r>
            <a:r>
              <a:rPr lang="en"/>
              <a:t>tendría</a:t>
            </a:r>
            <a:r>
              <a:rPr lang="en"/>
              <a:t> que calcular la derivada del error respecto de cada uno de las n variables.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El descenso por gradiente es muy lento para Big Data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Gradient Descent (SGD)</a:t>
            </a:r>
            <a:endParaRPr/>
          </a:p>
        </p:txBody>
      </p:sp>
      <p:sp>
        <p:nvSpPr>
          <p:cNvPr id="346" name="Google Shape;346;p34"/>
          <p:cNvSpPr txBox="1"/>
          <p:nvPr>
            <p:ph idx="1" type="body"/>
          </p:nvPr>
        </p:nvSpPr>
        <p:spPr>
          <a:xfrm>
            <a:off x="311700" y="1229875"/>
            <a:ext cx="58701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Toma un ejemplo al azar, y computa la derivada en relación a ese solo valor.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 </a:t>
            </a:r>
            <a:r>
              <a:rPr lang="en"/>
              <a:t>útil</a:t>
            </a:r>
            <a:r>
              <a:rPr lang="en"/>
              <a:t> si tenemos datos </a:t>
            </a:r>
            <a:r>
              <a:rPr lang="en"/>
              <a:t>redundantes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 </a:t>
            </a:r>
            <a:r>
              <a:rPr lang="en"/>
              <a:t>definición</a:t>
            </a:r>
            <a:r>
              <a:rPr lang="en"/>
              <a:t> </a:t>
            </a:r>
            <a:r>
              <a:rPr lang="en"/>
              <a:t>clásica</a:t>
            </a:r>
            <a:r>
              <a:rPr lang="en"/>
              <a:t> dice que se tome un ejemplo por paso pero, se puede tomar </a:t>
            </a:r>
            <a:r>
              <a:rPr b="1" lang="en"/>
              <a:t>n</a:t>
            </a:r>
            <a:r>
              <a:rPr lang="en"/>
              <a:t> (un mini-batch)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8321" y="1938975"/>
            <a:ext cx="3135674" cy="295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Volviendo a MNIST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Matriz de confusión</a:t>
            </a:r>
            <a:endParaRPr/>
          </a:p>
        </p:txBody>
      </p:sp>
      <p:sp>
        <p:nvSpPr>
          <p:cNvPr id="358" name="Google Shape;358;p3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9" name="Google Shape;35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6904500" cy="354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</a:t>
            </a:r>
            <a:endParaRPr/>
          </a:p>
        </p:txBody>
      </p:sp>
      <p:pic>
        <p:nvPicPr>
          <p:cNvPr id="365" name="Google Shape;36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263842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950" y="2198900"/>
            <a:ext cx="221932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1650" y="671775"/>
            <a:ext cx="5620650" cy="28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554175"/>
            <a:ext cx="5941087" cy="13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Precisión vs. Recall</a:t>
            </a:r>
            <a:endParaRPr/>
          </a:p>
        </p:txBody>
      </p:sp>
      <p:pic>
        <p:nvPicPr>
          <p:cNvPr id="374" name="Google Shape;37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198" cy="2745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Precisión vs. Recall</a:t>
            </a:r>
            <a:endParaRPr/>
          </a:p>
        </p:txBody>
      </p:sp>
      <p:sp>
        <p:nvSpPr>
          <p:cNvPr id="380" name="Google Shape;380;p39"/>
          <p:cNvSpPr txBox="1"/>
          <p:nvPr/>
        </p:nvSpPr>
        <p:spPr>
          <a:xfrm>
            <a:off x="751275" y="1602700"/>
            <a:ext cx="7519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En scikit learn,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además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del método 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predict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(), podemos usar un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método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que se llama 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decision_function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() que devuelve un puntaje de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cuán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seguro está el método de la clasificación que realizó. Y en base a ese valor cambiar el umbral.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Por defecto para el método SGDClassifier el umbral cero. Pero podemos cambiar el umbral.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Precisión vs. Recall</a:t>
            </a:r>
            <a:endParaRPr/>
          </a:p>
        </p:txBody>
      </p:sp>
      <p:pic>
        <p:nvPicPr>
          <p:cNvPr id="386" name="Google Shape;38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975" y="941250"/>
            <a:ext cx="7828626" cy="3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Curva ROC</a:t>
            </a:r>
            <a:endParaRPr/>
          </a:p>
        </p:txBody>
      </p:sp>
      <p:sp>
        <p:nvSpPr>
          <p:cNvPr id="392" name="Google Shape;392;p41"/>
          <p:cNvSpPr txBox="1"/>
          <p:nvPr/>
        </p:nvSpPr>
        <p:spPr>
          <a:xfrm>
            <a:off x="572400" y="1094700"/>
            <a:ext cx="8259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Roboto"/>
                <a:ea typeface="Roboto"/>
                <a:cs typeface="Roboto"/>
                <a:sym typeface="Roboto"/>
              </a:rPr>
              <a:t>Receiver</a:t>
            </a:r>
            <a:r>
              <a:rPr b="1" i="1" lang="en">
                <a:latin typeface="Roboto"/>
                <a:ea typeface="Roboto"/>
                <a:cs typeface="Roboto"/>
                <a:sym typeface="Roboto"/>
              </a:rPr>
              <a:t> Operating Characteristic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ROC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): es otra herramienta usada con clasificadores binarios.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En lugar de graficar la precisión frente al recall, la curva ROC traza la tasa de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verdaderos positivos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(otro nombre para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recall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) versus la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tasa de falsos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positivos (FPR). Esto lo hace para todos los posibles umbrales.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3" name="Google Shape;39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875" y="2389750"/>
            <a:ext cx="3870950" cy="24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Área</a:t>
            </a:r>
            <a:r>
              <a:rPr lang="en"/>
              <a:t> bajo la c</a:t>
            </a:r>
            <a:r>
              <a:rPr lang="en"/>
              <a:t>urva ROC</a:t>
            </a:r>
            <a:endParaRPr/>
          </a:p>
        </p:txBody>
      </p:sp>
      <p:sp>
        <p:nvSpPr>
          <p:cNvPr id="399" name="Google Shape;399;p42"/>
          <p:cNvSpPr txBox="1"/>
          <p:nvPr/>
        </p:nvSpPr>
        <p:spPr>
          <a:xfrm>
            <a:off x="572400" y="1094700"/>
            <a:ext cx="825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Roboto"/>
                <a:ea typeface="Roboto"/>
                <a:cs typeface="Roboto"/>
                <a:sym typeface="Roboto"/>
              </a:rPr>
              <a:t>Es común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también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 medir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el área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 bajo la curva ROC, un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clasificador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 perfecto tendrá un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área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 igual a 1, mientras que uno completamente azaroso tendrá un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área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 igual a 0.5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0" name="Google Shape;40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875" y="2389750"/>
            <a:ext cx="3870950" cy="244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Clasificado </a:t>
            </a:r>
            <a:r>
              <a:rPr lang="en"/>
              <a:t>múltiple</a:t>
            </a:r>
            <a:endParaRPr/>
          </a:p>
        </p:txBody>
      </p:sp>
      <p:pic>
        <p:nvPicPr>
          <p:cNvPr id="406" name="Google Shape;40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8425" y="1065013"/>
            <a:ext cx="5715000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
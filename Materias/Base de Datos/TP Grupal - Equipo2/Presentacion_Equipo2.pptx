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188720"/>
            <a:ext cx="4297680" cy="4297680"/>
          </a:xfrm>
          <a:prstGeom prst="ellipse">
            <a:avLst/>
          </a:prstGeom>
          <a:solidFill>
            <a:srgbClr val="0A2C22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2651760"/>
            <a:ext cx="1371600" cy="1371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10543032" y="1719072"/>
            <a:ext cx="402336" cy="402336"/>
          </a:xfrm>
          <a:prstGeom prst="ellipse">
            <a:avLst/>
          </a:prstGeom>
          <a:solidFill>
            <a:srgbClr val="0E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90983" y="2698416"/>
            <a:ext cx="402336" cy="402336"/>
          </a:xfrm>
          <a:prstGeom prst="ellipse">
            <a:avLst/>
          </a:prstGeom>
          <a:solidFill>
            <a:srgbClr val="0E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76112" y="4283028"/>
            <a:ext cx="402336" cy="402336"/>
          </a:xfrm>
          <a:prstGeom prst="ellipse">
            <a:avLst/>
          </a:prstGeom>
          <a:solidFill>
            <a:srgbClr val="0E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09952" y="4283028"/>
            <a:ext cx="402336" cy="402336"/>
          </a:xfrm>
          <a:prstGeom prst="ellipse">
            <a:avLst/>
          </a:prstGeom>
          <a:solidFill>
            <a:srgbClr val="0E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95081" y="2698416"/>
            <a:ext cx="402336" cy="402336"/>
          </a:xfrm>
          <a:prstGeom prst="ellipse">
            <a:avLst/>
          </a:prstGeom>
          <a:solidFill>
            <a:srgbClr val="0E3B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502920" cy="5486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· TA044 · 1.er CUATRIMESTRE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Pronosticos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Deportivos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e implementacion de una base de datos relacional en PostgreSQL — del modelo entidad-relacion a las consultas SQL.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7040880" cy="0"/>
          </a:xfrm>
          <a:prstGeom prst="line">
            <a:avLst/>
          </a:prstGeom>
          <a:noFill/>
          <a:ln w="12700">
            <a:solidFill>
              <a:srgbClr val="2C5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Goncalves Rei    ·    Thomas Santillan    ·    Julian Casazza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Catedra Cabrera  ·  Defensa oral del trabajo practico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ORGANIZAMOS LA DEFENSA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partes, tres expositores  (~20 min)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7152" y="1783080"/>
            <a:ext cx="345643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7152" y="1783080"/>
            <a:ext cx="3456432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892912" y="219456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92912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2912" y="324612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Entidad-Relacion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2912" y="402336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relaciones, cardinalidades y decisiones de modelado.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2912" y="47548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7632" y="1783080"/>
            <a:ext cx="345643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7632" y="1783080"/>
            <a:ext cx="3456432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33392" y="2194560"/>
            <a:ext cx="914400" cy="9144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733392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33392" y="324612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Pasaje al Modelo Relacional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33392" y="402336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 entidad y relacion pasa a tablas y claves.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3392" y="47548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08112" y="1783080"/>
            <a:ext cx="3456432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08112" y="1783080"/>
            <a:ext cx="3456432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3872" y="2194560"/>
            <a:ext cx="914400" cy="9144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573872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73872" y="3246120"/>
            <a:ext cx="2724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Implementacion SQL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73872" y="402336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restricciones, roles y consultas SQL clave.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73872" y="47548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con una breve introduccion al sistema y cerramos con las conclusiones.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y su alcance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resuelve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donde los usuarios cargan pronosticos sobre el resultado de partidos (LOCAL / VISITANTE / EMPATE) de distintos torneos, y consultan aciertos y estadisticas.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8521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del trabajo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389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capa de persistencia: diseno del MER, pasaje al modelo relacional e implementacion en PostgreSQL con sus consultas. No se desarrolla la aplicacion en si.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0" y="178308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Restricciones obligatorias del enunciado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0" y="2240280"/>
            <a:ext cx="4693615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0" y="2240280"/>
            <a:ext cx="109728" cy="10241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240280"/>
            <a:ext cx="548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26680" y="2286000"/>
            <a:ext cx="36420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Paises validos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se modela como entidad propia; la FK desde Usuario garantiza un pais valido.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3355848"/>
            <a:ext cx="4693615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3355848"/>
            <a:ext cx="109728" cy="10241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3355848"/>
            <a:ext cx="548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26680" y="3401568"/>
            <a:ext cx="36420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 de email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 CHECK con expresion regular sobre Usuario.email (formato local@dominio.tld).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4471416"/>
            <a:ext cx="4693615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4471416"/>
            <a:ext cx="109728" cy="10241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471416"/>
            <a:ext cx="548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726680" y="4517136"/>
            <a:ext cx="364205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goles negativos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aplica: el resultado no guarda goles sino un dominio cerrado (CHECK).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Entidad-Relacion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representamos el dominio antes de pensar en tablas.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920240"/>
            <a:ext cx="3566160" cy="3017520"/>
          </a:xfrm>
          <a:prstGeom prst="rect">
            <a:avLst/>
          </a:prstGeom>
          <a:solidFill>
            <a:srgbClr val="0A2C22"/>
          </a:solidFill>
          <a:ln w="12700">
            <a:solidFill>
              <a:srgbClr val="2C5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PARTE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entidades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y cardinalidades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modelado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5212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6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9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cinco entidades del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5440" y="1828800"/>
            <a:ext cx="345643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5440" y="1828800"/>
            <a:ext cx="345643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38048" y="20848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048" y="25786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048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contrasenia, cantidad_ingresos (contador de logins).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7632" y="1828800"/>
            <a:ext cx="345643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7632" y="1828800"/>
            <a:ext cx="345643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0240" y="20848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0240" y="25786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ISO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0240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nombre_pais. Entidad propia para validar los paises.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9824" y="1828800"/>
            <a:ext cx="345643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9824" y="1828800"/>
            <a:ext cx="345643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2432" y="20848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Torneo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82432" y="25786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nombre_torneo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2432" y="29260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fecha_inicio, fecha_fin.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5440" y="3977640"/>
            <a:ext cx="345643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5440" y="3977640"/>
            <a:ext cx="3456432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838048" y="42336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8048" y="472744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PK: nombre_equipo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048" y="50749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7632" y="3977640"/>
            <a:ext cx="345643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7632" y="3977640"/>
            <a:ext cx="3456432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26" name="Text 24"/>
          <p:cNvSpPr/>
          <p:nvPr/>
        </p:nvSpPr>
        <p:spPr>
          <a:xfrm>
            <a:off x="4660240" y="423367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Partido  (debil)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660240" y="472744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Disc.: fecha_hora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0240" y="50749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result_partido. No existe sin su torneo ni sus 2 equipos.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9824" y="3977640"/>
            <a:ext cx="3456432" cy="1828800"/>
          </a:xfrm>
          <a:prstGeom prst="rect">
            <a:avLst/>
          </a:prstGeom>
          <a:solidFill>
            <a:srgbClr val="0E3B2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82432" y="425196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 debil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2432" y="4663440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depende de Torneo y de los dos Equipos: lo veremos en las decisiones de modelado.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Relaciones y cardinalidades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2743200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pertenece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— Pais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(0,N) — (1,1)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pronostica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— Partido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(0,N) — (0,N)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779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result_pronosticado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 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— Torneo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(1,N) — (1,N)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779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anio_participacion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juega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— Partido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(2,2) — (1,N)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B779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localia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i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Torneo — Partido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(1,1) — (1,N)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624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leerlo: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 es (2,2) del lado del equipo porque todo partido lo disputan exactamente dos equipos; tiene aporta el torneo. Ambas dan la identidad de Partido como entidad debil.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7" name="Shape 4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de modelado destacadas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57984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993392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Partido como entidad debil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395728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existencia propia: se identifica por torneo + equipo local + equipo visitante + fecha_hora. Dos equipos pueden enfrentarse mas de una vez en un torneo, pero no en el mismo instante.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57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20240" y="3493008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juega (2,2) con atributo localia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895344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relacion en vez de dos separadas (local / visitante). Refleja la naturaleza simetrica del partido; la asimetria queda solo en el atributo localia.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57216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4992624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Pais como entidad, no atributo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39496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Modelarlo como entidad (y no como texto libre en Usuario) permite garantizar la validacion de paises a nivel del propio esquema.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Pasaje al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Relacional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diagrama a tablas con claves primarias y foraneas.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920240"/>
            <a:ext cx="3566160" cy="3017520"/>
          </a:xfrm>
          <a:prstGeom prst="rect">
            <a:avLst/>
          </a:prstGeom>
          <a:solidFill>
            <a:srgbClr val="0A2C22"/>
          </a:solidFill>
          <a:ln w="12700">
            <a:solidFill>
              <a:srgbClr val="2C5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PARTE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transformacion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 tablas resultantes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del pasaje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5212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6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9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MODELO RELACIONAL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Reglas que aplicamos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8288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0868" y="1828800"/>
            <a:ext cx="128016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952348" y="20848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 fuerte -&gt; tabla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2348" y="26700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Pais, Usuario, Torneo y Equipo se transforman directamente en tablas.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1588" y="18288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1588" y="1828800"/>
            <a:ext cx="128016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6713068" y="20848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 1:N -&gt; FK del lado 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13068" y="26700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 a se resuelve con ISO_pais como clave foranea en Usuario, sin tabla aparte.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0868" y="38862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0868" y="3886200"/>
            <a:ext cx="128016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952348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 N:N con atributo -&gt; tabla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2348" y="47274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 en da la tabla Participacion; pronostica da la tabla Pronostico.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1588" y="388620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1588" y="3886200"/>
            <a:ext cx="128016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6713068" y="41422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 debil -&gt; PK compuesta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13068" y="47274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hereda los identificadores de Torneo y de los dos Equipos + fecha_hora.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Relacional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MODELO RELACIONAL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esquema: 7 tablas relacionadas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nombre_pais)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rol, contrasenia, cantidad_ingresos, </a:t>
            </a:r>
            <a:pPr indent="0" marL="0">
              <a:buNone/>
            </a:pPr>
            <a:r>
              <a:rPr lang="en-US" sz="14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ISO_pais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Torneo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nombre_torneo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fecha_inicio, fecha_fin)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10728655" cy="54864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5204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nombre_equipo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ciudad)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Participacion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nombre_equipo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nombre_torneo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anio_participacion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10728655" cy="54864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617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Partido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nombre_torneo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equipo_local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equipo_visitante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fecha_hora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result_partido)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Pronostico 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nombre_torneo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equipo_local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equipo_visitante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450" b="1" u="sng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fecha_hora</a:t>
            </a:r>
            <a:pPr indent="0" marL="0">
              <a:buNone/>
            </a:pPr>
            <a:r>
              <a:rPr lang="en-US" sz="145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result_pronosticado)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91616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subrayada</a:t>
            </a:r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FK en color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Relacional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MODELO RELACIONAL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Decisiones del pasaje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57984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993392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Absorcion de la relacion juega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395728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una tabla intermedia, localia se materializa como dos columnas en Partido: equipo_local y equipo_visitante. El rol queda implicito en la posicion: mas simple y eficiente.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5760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20240" y="3493008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Participacion: el anio va en la PK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895344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PK es (equipo, torneo, anio). Asi un mismo equipo puede registrar varias ediciones del mismo torneo; con solo (equipo, torneo) se perderia la historia.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10911535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57216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20240" y="4992624"/>
            <a:ext cx="9357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compuesta Pronostico -&gt; Partido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39496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FK tiene 4 columnas porque la PK de Partido tambien las tiene. Es la consecuencia directa de haber modelado Partido como entidad debil.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Relacional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Implementacion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0584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Esquema, restricciones, roles y consultas en PostgreSQL.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 </a:t>
            </a:r>
            <a:pPr indent="0" marL="0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920240"/>
            <a:ext cx="3566160" cy="3017520"/>
          </a:xfrm>
          <a:prstGeom prst="rect">
            <a:avLst/>
          </a:prstGeom>
          <a:solidFill>
            <a:srgbClr val="0A2C22"/>
          </a:solidFill>
          <a:ln w="12700">
            <a:solidFill>
              <a:srgbClr val="2C5C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PARTE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256032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restricciones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destacadas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con CASCADE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0" y="52120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64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9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general e integridad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scripts SQL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042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01_esquema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tablas, claves y restricciones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02_inserciones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datos de ejemplo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03_permisos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 y permisos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04_consultas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consultas pedidas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53492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Restricciones de integridad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 email con expresion regular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cerrados: rol y result_* (LOCAL/VISITANTE/EMPATE)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fecha_fin &gt;= fecha_inicio  ·  equipo_local &lt;&gt; equipo_visitante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 ON UPDATE/DELETE CASCADE o RESTRICT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sobre todas las claves foraneas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196535" cy="3840480"/>
          </a:xfrm>
          <a:prstGeom prst="rect">
            <a:avLst/>
          </a:prstGeom>
          <a:solidFill>
            <a:srgbClr val="0E3B2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96596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roles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20840" y="242316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743200"/>
            <a:ext cx="4465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esquema: cualquier operacion sobre todas las tablas. La app lo usa para registrar usuarios (evita auto-asignarse rol ADMIN).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3794760"/>
            <a:ext cx="4465015" cy="0"/>
          </a:xfrm>
          <a:prstGeom prst="line">
            <a:avLst/>
          </a:prstGeom>
          <a:noFill/>
          <a:ln w="12700">
            <a:solidFill>
              <a:srgbClr val="2C5C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93192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usuario_app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4251960"/>
            <a:ext cx="4465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sobre lo publico, alta/baja/modificacion de sus pronosticos y UPDATE acotado solo a cantidad_ingresos (su contador de logins).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SQL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Consulta: aciertos por usuario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56692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109728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resuelve:  </a:t>
            </a:r>
            <a:pPr indent="0" marL="0"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cuantos pronosticos acerto cada usuario, incluyendo a los que no acertaron ninguno.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6858000" cy="3886200"/>
          </a:xfrm>
          <a:prstGeom prst="rect">
            <a:avLst/>
          </a:prstGeom>
          <a:solidFill>
            <a:srgbClr val="0A2C2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6858000" cy="292608"/>
          </a:xfrm>
          <a:prstGeom prst="rect">
            <a:avLst/>
          </a:prstGeom>
          <a:solidFill>
            <a:srgbClr val="1640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715768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Aciertos AS 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p.email, COUNT(*) AS cantidad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Pronostico p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INNER JOIN Partido pa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pa.nombre_torneo    = p.nombre_torneo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pa.equipo_local     = p.equipo_local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pa.equipo_visitante = p.equipo_visitante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pa.fecha_hora       = p.fecha_hora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p.result_pronosticado = pa.result_partido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pa.result_partido IS NOT NULL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p.email 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u.email,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COALESCE(a.cantidad, 0) AS aciertos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Usuario u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Aciertos a ON u.email = a.email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aciertos DESC, u.email;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237744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0" y="2971800"/>
            <a:ext cx="368777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JOIN une pronostico y partido por la clave compuesta (4 campos).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acierto solo si el resultado coincide y el partido ya se jugo.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+ COALESCE incluye a los usuarios con 0 aciertos.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SQL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Consulta: torneos mas populares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56692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109728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resuelve:  </a:t>
            </a:r>
            <a:pPr indent="0" marL="0">
              <a:buNone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torneo (o torneos) con mayor cantidad de usuarios distintos que cargaron pronosticos.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6858000" cy="3886200"/>
          </a:xfrm>
          <a:prstGeom prst="rect">
            <a:avLst/>
          </a:prstGeom>
          <a:solidFill>
            <a:srgbClr val="0A2C2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6858000" cy="292608"/>
          </a:xfrm>
          <a:prstGeom prst="rect">
            <a:avLst/>
          </a:prstGeom>
          <a:solidFill>
            <a:srgbClr val="16402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31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715768"/>
            <a:ext cx="6309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Usuarios_Por_Torneo AS 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nombre_torneo,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COUNT(DISTINCT email) AS cant_usuarios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Pronostico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nombre_torneo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nombre_torneo, cant_usuarios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Usuarios_Por_Torneo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cant_usuarios = (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MAX(cant_usuarios)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Usuarios_Por_Torneo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6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237744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0" y="2971800"/>
            <a:ext cx="3687775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email): cada usuario cuenta una sola vez.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CTE calcula el conteo por torneo y se reutiliza.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subconsulta MAX devuelve el o los torneos en primer lugar.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SQL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Integridad referencial en accion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acciones del enunciado funcionan sin romper la integridad gracias a las FK en cascada: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7152" y="214884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7152" y="2148840"/>
            <a:ext cx="3456432" cy="640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47192" y="214884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192" y="3017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Renombrar un torneo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7192" y="3703320"/>
            <a:ext cx="2816352" cy="41148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47192" y="370332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UPDATE CASCADE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7192" y="4251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nombre se propaga solo a Partido, Participacion y Pronostico.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7632" y="214884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632" y="2148840"/>
            <a:ext cx="3456432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4687672" y="214884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7672" y="3017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Eliminar un torneo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87672" y="3703320"/>
            <a:ext cx="2816352" cy="41148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17" name="Text 15"/>
          <p:cNvSpPr/>
          <p:nvPr/>
        </p:nvSpPr>
        <p:spPr>
          <a:xfrm>
            <a:off x="4687672" y="370332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87672" y="4251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borran tambien sus partidos, participaciones y pronosticos asociados.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08112" y="2148840"/>
            <a:ext cx="3456432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08112" y="2148840"/>
            <a:ext cx="3456432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28152" y="214884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28152" y="3017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Desregistrar un usuario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28152" y="3703320"/>
            <a:ext cx="2816352" cy="411480"/>
          </a:xfrm>
          <a:prstGeom prst="rect">
            <a:avLst/>
          </a:prstGeom>
          <a:solidFill>
            <a:srgbClr val="F1F6F3"/>
          </a:solidFill>
          <a:ln/>
        </p:spPr>
      </p:sp>
      <p:sp>
        <p:nvSpPr>
          <p:cNvPr id="24" name="Text 22"/>
          <p:cNvSpPr/>
          <p:nvPr/>
        </p:nvSpPr>
        <p:spPr>
          <a:xfrm>
            <a:off x="8528152" y="370332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8152" y="4251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eliminan automaticamente todos los pronosticos de ese usuario.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SQL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02920" cy="5486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diseno coherente de punta a punta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7315200" cy="960120"/>
          </a:xfrm>
          <a:prstGeom prst="rect">
            <a:avLst/>
          </a:prstGeom>
          <a:solidFill>
            <a:srgbClr val="0A2C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91440" cy="9601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963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Partido como entidad debil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529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Atraviesa todo el modelo: define su PK compuesta y, en cascada, la FK de Pronostico.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7315200" cy="960120"/>
          </a:xfrm>
          <a:prstGeom prst="rect">
            <a:avLst/>
          </a:prstGeom>
          <a:solidFill>
            <a:srgbClr val="0A2C2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447288"/>
            <a:ext cx="91440" cy="9601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566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juega absorbida en Partido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9227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localia se vuelve equipo_local / equipo_visitante: mas simple y mas eficiente.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17136"/>
            <a:ext cx="7315200" cy="960120"/>
          </a:xfrm>
          <a:prstGeom prst="rect">
            <a:avLst/>
          </a:prstGeom>
          <a:solidFill>
            <a:srgbClr val="0A2C2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517136"/>
            <a:ext cx="91440" cy="9601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6360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Integridad declarativa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9926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dominios cerrados y FK en cascada garantizan los datos a nivel del esquema.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12480" y="2377440"/>
            <a:ext cx="3136392" cy="3191256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2743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0" y="4114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53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3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Goncalves Rei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3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Santillan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3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Casazza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AE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565392"/>
            <a:ext cx="164592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654710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Deportivos  ·  TP Base de Datos  ·  Equipo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99655" y="6547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Pronosticos Deportivos - Defensa TP Base de Datos</dc:title>
  <dc:subject>PptxGenJS Presentation</dc:subject>
  <dc:creator>Equipo 2</dc:creator>
  <cp:lastModifiedBy>Equipo 2</cp:lastModifiedBy>
  <cp:revision>1</cp:revision>
  <dcterms:created xsi:type="dcterms:W3CDTF">2026-06-22T18:09:25Z</dcterms:created>
  <dcterms:modified xsi:type="dcterms:W3CDTF">2026-06-22T18:09:25Z</dcterms:modified>
</cp:coreProperties>
</file>